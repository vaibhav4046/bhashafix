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cbc465b7ca49f1" /><Relationship Type="http://schemas.openxmlformats.org/officeDocument/2006/relationships/extended-properties" Target="/docProps/app.xml" Id="R0e93041671ba49ca" /><Relationship Type="http://schemas.openxmlformats.org/officeDocument/2006/relationships/officeDocument" Target="/ppt/presentation.xml" Id="Rebc4689c019746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1e0a00f3724784"/>
  </p:sldMasterIdLst>
  <p:notesMasterIdLst>
    <p:notesMasterId xmlns:r="http://schemas.openxmlformats.org/officeDocument/2006/relationships" r:id="Ra45d281e4a6049bf"/>
  </p:notesMasterIdLst>
  <p:sldIdLst>
    <p:sldId xmlns:r="http://schemas.openxmlformats.org/officeDocument/2006/relationships" id="256" r:id="R5bcc60e5478d46c7"/>
    <p:sldId xmlns:r="http://schemas.openxmlformats.org/officeDocument/2006/relationships" id="257" r:id="Rf040d0da05914d13"/>
    <p:sldId xmlns:r="http://schemas.openxmlformats.org/officeDocument/2006/relationships" id="258" r:id="R2cbb56cc0dda41b3"/>
    <p:sldId xmlns:r="http://schemas.openxmlformats.org/officeDocument/2006/relationships" id="259" r:id="Re6f4dca78c8940ef"/>
    <p:sldId xmlns:r="http://schemas.openxmlformats.org/officeDocument/2006/relationships" id="260" r:id="Ra57f616aff9948c0"/>
    <p:sldId xmlns:r="http://schemas.openxmlformats.org/officeDocument/2006/relationships" id="261" r:id="R8e076a99138644b4"/>
    <p:sldId xmlns:r="http://schemas.openxmlformats.org/officeDocument/2006/relationships" id="262" r:id="R920249d0461b45ad"/>
    <p:sldId xmlns:r="http://schemas.openxmlformats.org/officeDocument/2006/relationships" id="263" r:id="Rdc8b70e1b9c54e58"/>
    <p:sldId xmlns:r="http://schemas.openxmlformats.org/officeDocument/2006/relationships" id="264" r:id="R26aa8de249ec4f05"/>
    <p:sldId xmlns:r="http://schemas.openxmlformats.org/officeDocument/2006/relationships" id="265" r:id="R05a5857ee5cc4978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4a9ce107f14997" /><Relationship Type="http://schemas.openxmlformats.org/officeDocument/2006/relationships/slideMaster" Target="/ppt/slideMasters/slideMaster1.xml" Id="R8f1e0a00f3724784" /><Relationship Type="http://schemas.openxmlformats.org/officeDocument/2006/relationships/notesMaster" Target="/ppt/notesMasters/notesMaster1.xml" Id="Ra45d281e4a6049bf" /><Relationship Type="http://schemas.openxmlformats.org/officeDocument/2006/relationships/presProps" Target="/ppt/presProps.xml" Id="R806adbe2de52499c" /><Relationship Type="http://schemas.openxmlformats.org/officeDocument/2006/relationships/viewProps" Target="/ppt/viewProps.xml" Id="R1c160e29f76b46d4" /><Relationship Type="http://schemas.openxmlformats.org/officeDocument/2006/relationships/tableStyles" Target="/ppt/tableStyles.xml" Id="R10f17d67ef8a4f32" /><Relationship Type="http://schemas.openxmlformats.org/officeDocument/2006/relationships/slide" Target="/ppt/slides/slide1.xml" Id="R5bcc60e5478d46c7" /><Relationship Type="http://schemas.openxmlformats.org/officeDocument/2006/relationships/slide" Target="/ppt/slides/slide2.xml" Id="Rf040d0da05914d13" /><Relationship Type="http://schemas.openxmlformats.org/officeDocument/2006/relationships/slide" Target="/ppt/slides/slide3.xml" Id="R2cbb56cc0dda41b3" /><Relationship Type="http://schemas.openxmlformats.org/officeDocument/2006/relationships/slide" Target="/ppt/slides/slide4.xml" Id="Re6f4dca78c8940ef" /><Relationship Type="http://schemas.openxmlformats.org/officeDocument/2006/relationships/slide" Target="/ppt/slides/slide5.xml" Id="Ra57f616aff9948c0" /><Relationship Type="http://schemas.openxmlformats.org/officeDocument/2006/relationships/slide" Target="/ppt/slides/slide6.xml" Id="R8e076a99138644b4" /><Relationship Type="http://schemas.openxmlformats.org/officeDocument/2006/relationships/slide" Target="/ppt/slides/slide7.xml" Id="R920249d0461b45ad" /><Relationship Type="http://schemas.openxmlformats.org/officeDocument/2006/relationships/slide" Target="/ppt/slides/slide8.xml" Id="Rdc8b70e1b9c54e58" /><Relationship Type="http://schemas.openxmlformats.org/officeDocument/2006/relationships/slide" Target="/ppt/slides/slide9.xml" Id="R26aa8de249ec4f05" /><Relationship Type="http://schemas.openxmlformats.org/officeDocument/2006/relationships/slide" Target="/ppt/slides/slide10.xml" Id="R05a5857ee5cc49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65ca880b6548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259d11fdde4742" /><Relationship Type="http://schemas.openxmlformats.org/officeDocument/2006/relationships/notesMaster" Target="/ppt/notesMasters/notesMaster1.xml" Id="Rc2d8a7f4d1e34d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bf730d2f004291" /><Relationship Type="http://schemas.openxmlformats.org/officeDocument/2006/relationships/notesMaster" Target="/ppt/notesMasters/notesMaster1.xml" Id="R097c230cd1cf47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100e998bb3c4d24" /><Relationship Type="http://schemas.openxmlformats.org/officeDocument/2006/relationships/notesMaster" Target="/ppt/notesMasters/notesMaster1.xml" Id="Re3570cb06d1e42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c48d2ebc404304" /><Relationship Type="http://schemas.openxmlformats.org/officeDocument/2006/relationships/notesMaster" Target="/ppt/notesMasters/notesMaster1.xml" Id="Rc258678818014b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b07a9f09634604" /><Relationship Type="http://schemas.openxmlformats.org/officeDocument/2006/relationships/notesMaster" Target="/ppt/notesMasters/notesMaster1.xml" Id="Rc0fe0435b53d44a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dffa7e2af94f4f" /><Relationship Type="http://schemas.openxmlformats.org/officeDocument/2006/relationships/notesMaster" Target="/ppt/notesMasters/notesMaster1.xml" Id="R63ca228643b540c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374463560234f0e" /><Relationship Type="http://schemas.openxmlformats.org/officeDocument/2006/relationships/notesMaster" Target="/ppt/notesMasters/notesMaster1.xml" Id="R46ed1b34720e48f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672200a4184d17" /><Relationship Type="http://schemas.openxmlformats.org/officeDocument/2006/relationships/notesMaster" Target="/ppt/notesMasters/notesMaster1.xml" Id="R0383344a398b4f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2a59d78c26b45a2" /><Relationship Type="http://schemas.openxmlformats.org/officeDocument/2006/relationships/notesMaster" Target="/ppt/notesMasters/notesMaster1.xml" Id="R3fbdd1d4346b416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9716bc4115f4ef2" /><Relationship Type="http://schemas.openxmlformats.org/officeDocument/2006/relationships/notesMaster" Target="/ppt/notesMasters/notesMaster1.xml" Id="R01c13aee02d64f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First-party product narrative; no external claim.</a:t>
            </a:r>
          </a:p>
          <a:p xmlns:a="http://schemas.openxmlformats.org/drawingml/2006/main">
            <a:r>
              <a:t>Live product: https://bhashafix.vercel.app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Defect classes are backed by artifacts/nextjs-repair-proof.json and submission/repair-proof.json.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Workflow contract is implemented across packages/core, packages/browser, packages/repair-engine and packages/verifier.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public/evidence/index.json</a:t>
            </a:r>
          </a:p>
          <a:p xmlns:a="http://schemas.openxmlformats.org/drawingml/2006/main">
            <a:r>
              <a:t>public/evidence/scans/browser-707f6817-0e68-4236-a5e8-7e97b530a4f0/screenshots/626916722c9b.png</a:t>
            </a:r>
          </a:p>
          <a:p xmlns:a="http://schemas.openxmlformats.org/drawingml/2006/main">
            <a:r>
              <a:t>Hosted scan limitations are stated in README.md and the live UI.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artifacts/nextjs-repair-proof.json</a:t>
            </a:r>
          </a:p>
          <a:p xmlns:a="http://schemas.openxmlformats.org/drawingml/2006/main">
            <a:r>
              <a:t>public/evidence/BF-VIS-DE-002.png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artifacts/nextjs-repair-proof.json</a:t>
            </a:r>
          </a:p>
          <a:p xmlns:a="http://schemas.openxmlformats.org/drawingml/2006/main">
            <a:r>
              <a:t>artifacts/nextjs-repair.diff</a:t>
            </a:r>
          </a:p>
          <a:p xmlns:a="http://schemas.openxmlformats.org/drawingml/2006/main">
            <a:r>
              <a:t>public/evidence/BF-VIS-DE-002-after.png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packages/browser/src/serverless.ts</a:t>
            </a:r>
          </a:p>
          <a:p xmlns:a="http://schemas.openxmlformats.org/drawingml/2006/main">
            <a:r>
              <a:t>packages/crawler/src/url-policy.ts</a:t>
            </a:r>
          </a:p>
          <a:p xmlns:a="http://schemas.openxmlformats.org/drawingml/2006/main">
            <a:r>
              <a:t>packages/repair-engine source path and allowlist enforcement.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artifacts/mcp-stdio-receipt.json</a:t>
            </a:r>
          </a:p>
          <a:p xmlns:a="http://schemas.openxmlformats.org/drawingml/2006/main">
            <a:r>
              <a:t>public/evidence/index.json#mcp</a:t>
            </a:r>
          </a:p>
          <a:p xmlns:a="http://schemas.openxmlformats.org/drawingml/2006/main">
            <a:r>
              <a:t>public/evidence/scans/browser-3f4cdf97-6c5c-4f84-b083-ea310ceee8a9/screenshots/9644643c4737.png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artifacts/benchmark.json</a:t>
            </a:r>
          </a:p>
          <a:p xmlns:a="http://schemas.openxmlformats.org/drawingml/2006/main">
            <a:r>
              <a:t>artifacts/real-site-scans.json</a:t>
            </a:r>
          </a:p>
          <a:p xmlns:a="http://schemas.openxmlformats.org/drawingml/2006/main">
            <a:r>
              <a:t>artifacts/fixtures/broken.png</a:t>
            </a:r>
          </a:p>
          <a:p xmlns:a="http://schemas.openxmlformats.org/drawingml/2006/main">
            <a:r>
              <a:t>The metrics are explicitly limited to the generated labelled fixture.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Live product: https://bhashafix.vercel.app</a:t>
            </a:r>
          </a:p>
          <a:p xmlns:a="http://schemas.openxmlformats.org/drawingml/2006/main">
            <a:r>
              <a:t>Public repository: https://github.com/vaibhav4046/bhashafix</a:t>
            </a:r>
          </a:p>
          <a:p xmlns:a="http://schemas.openxmlformats.org/drawingml/2006/main">
            <a:r>
              <a:t>submission/screenshots/03-landing-mobile.png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10f863b232415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716711101e4833" /><Relationship Type="http://schemas.openxmlformats.org/officeDocument/2006/relationships/slideLayout" Target="/ppt/slideLayouts/slideLayout1.xml" Id="R2097a928f4024a6c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97a928f4024a6c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629fa1053d47df" /><Relationship Type="http://schemas.openxmlformats.org/officeDocument/2006/relationships/notesSlide" Target="/ppt/notesSlides/notesSlide1.xml" Id="Rd9d24fd05c9845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55dfbf39414a8c" /><Relationship Type="http://schemas.openxmlformats.org/officeDocument/2006/relationships/notesSlide" Target="/ppt/notesSlides/notesSlide2.xml" Id="Rca09a3d709d242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3dbf8723374c91" /><Relationship Type="http://schemas.openxmlformats.org/officeDocument/2006/relationships/notesSlide" Target="/ppt/notesSlides/notesSlide3.xml" Id="R36fd9ddc62a14c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1de377fa524c15" /><Relationship Type="http://schemas.openxmlformats.org/officeDocument/2006/relationships/image" Target="/ppt/media/image.png" Id="Radf6b91ed00f4158" /><Relationship Type="http://schemas.openxmlformats.org/officeDocument/2006/relationships/notesSlide" Target="/ppt/notesSlides/notesSlide4.xml" Id="R68a7245fb2e04c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fba3e9bc09433c" /><Relationship Type="http://schemas.openxmlformats.org/officeDocument/2006/relationships/image" Target="/ppt/media/image2.png" Id="Rdcf6aa76615e47af" /><Relationship Type="http://schemas.openxmlformats.org/officeDocument/2006/relationships/notesSlide" Target="/ppt/notesSlides/notesSlide5.xml" Id="R90af7513dd634b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707efb00b34e32" /><Relationship Type="http://schemas.openxmlformats.org/officeDocument/2006/relationships/image" Target="/ppt/media/image3.png" Id="R62a9d125141343be" /><Relationship Type="http://schemas.openxmlformats.org/officeDocument/2006/relationships/notesSlide" Target="/ppt/notesSlides/notesSlide6.xml" Id="R76f7a31e2d32420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784117999f4478" /><Relationship Type="http://schemas.openxmlformats.org/officeDocument/2006/relationships/notesSlide" Target="/ppt/notesSlides/notesSlide7.xml" Id="Rce179f974b80437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d1498e8bd40e9" /><Relationship Type="http://schemas.openxmlformats.org/officeDocument/2006/relationships/image" Target="/ppt/media/image4.png" Id="R6af72430c4e8450d" /><Relationship Type="http://schemas.openxmlformats.org/officeDocument/2006/relationships/notesSlide" Target="/ppt/notesSlides/notesSlide8.xml" Id="R9cbddf3df73b427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cf82f4141d4ede" /><Relationship Type="http://schemas.openxmlformats.org/officeDocument/2006/relationships/image" Target="/ppt/media/image5.png" Id="Rb725fcd634de4ed4" /><Relationship Type="http://schemas.openxmlformats.org/officeDocument/2006/relationships/notesSlide" Target="/ppt/notesSlides/notesSlide9.xml" Id="R25e562451abb4af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ca1c18d3a4aad" /><Relationship Type="http://schemas.openxmlformats.org/officeDocument/2006/relationships/image" Target="/ppt/media/image6.png" Id="Ra42225434e6748f8" /><Relationship Type="http://schemas.openxmlformats.org/officeDocument/2006/relationships/notesSlide" Target="/ppt/notesSlides/notesSlide10.xml" Id="R86893a1db05345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0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8A90A6A-1843-46B7-8085-1A39F1FB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90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 b="1">
                <a:solidFill>
                  <a:srgbClr val="FACC15"/>
                </a:solidFill>
              </a:defRPr>
            </a:pPr>
            <a:r>
              <a:rPr sz="1125" b="1">
                <a:solidFill>
                  <a:srgbClr val="FACC15"/>
                </a:solidFill>
              </a:rPr>
              <a:t>BHASHAFIX · LOCALISATION RELEASE FIREWALL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0BB4C2F-8B63-453B-8F1C-4E0066EB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8001000" cy="1447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4275" b="1">
                <a:solidFill>
                  <a:srgbClr val="FFFAF0"/>
                </a:solidFill>
              </a:defRPr>
            </a:pPr>
            <a:r>
              <a:rPr sz="4275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AI translated the product.</a:t>
            </a:r>
          </a:p>
          <a:p xmlns:a="http://schemas.openxmlformats.org/drawingml/2006/main">
            <a:pPr marL="0" indent="0">
              <a:buNone/>
              <a:defRPr sz="4275" b="1">
                <a:solidFill>
                  <a:srgbClr val="FFFAF0"/>
                </a:solidFill>
              </a:defRPr>
            </a:pPr>
            <a:r>
              <a:rPr sz="4275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Who proved it still works?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DD38C6D-B8E8-4D20-9025-AB1D83A3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7810500" cy="1390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2200"/>
              </a:lnSpc>
              <a:buNone/>
              <a:defRPr sz="1725">
                <a:solidFill>
                  <a:srgbClr val="C7BDD2"/>
                </a:solidFill>
              </a:defRPr>
            </a:pPr>
            <a:r>
              <a:rPr sz="1725">
                <a:solidFill>
                  <a:srgbClr val="C7BDD2"/>
                </a:solidFill>
              </a:rPr>
              <a:t>BhashaFix opens real browsers, measures locale failures, prepares bounded source repairs, and reruns the identical predicates before release.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rPr sz="1600">
                <a:solidFill>
                  <a:srgbClr val="B8AFC4"/>
                </a:solidFill>
              </a:rP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725">
                <a:solidFill>
                  <a:srgbClr val="C7BDD2"/>
                </a:solidFill>
              </a:defRPr>
            </a:pPr>
            <a:r>
              <a:rPr sz="1725">
                <a:solidFill>
                  <a:srgbClr val="C7BDD2"/>
                </a:solidFill>
              </a:rPr>
              <a:t>LIVE · CLI · CI · MCP · OPEN SOURCE</a:t>
            </a:r>
          </a:p>
        </p:txBody>
      </p:sp>
    </p:spTree>
    <p:extLst>
      <p:ext uri="{BB962C8B-B14F-4D97-AF65-F5344CB8AC3E}">
        <p14:creationId xmlns:p14="http://schemas.microsoft.com/office/powerpoint/2010/main" val="17924818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0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93AF0DD-6158-4E82-B7B0-030F9E30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90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 b="1">
                <a:solidFill>
                  <a:srgbClr val="FACC15"/>
                </a:solidFill>
              </a:defRPr>
            </a:pPr>
            <a:r>
              <a:rPr sz="1125" b="1">
                <a:solidFill>
                  <a:srgbClr val="FACC15"/>
                </a:solidFill>
              </a:rPr>
              <a:t>THE PRODUCTION GAP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147060F-0082-42CC-B9AD-90678B43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8001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600" b="1">
                <a:solidFill>
                  <a:srgbClr val="FFFAF0"/>
                </a:solidFill>
              </a:defRPr>
            </a:pPr>
            <a:r>
              <a:rPr sz="3600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A translation can be correct.</a:t>
            </a:r>
          </a:p>
          <a:p xmlns:a="http://schemas.openxmlformats.org/drawingml/2006/main">
            <a:pPr marL="0" indent="0">
              <a:buNone/>
              <a:defRPr sz="3600" b="1">
                <a:solidFill>
                  <a:srgbClr val="FFFAF0"/>
                </a:solidFill>
              </a:defRPr>
            </a:pPr>
            <a:r>
              <a:rPr sz="3600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The interface can still fail.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23B611C-94BA-4F92-9C0D-BBBDC9FE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66950"/>
            <a:ext cx="7810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2200"/>
              </a:lnSpc>
              <a:buNone/>
              <a:defRPr sz="1800">
                <a:solidFill>
                  <a:srgbClr val="C7BDD2"/>
                </a:solidFill>
              </a:defRPr>
            </a:pPr>
            <a:r>
              <a:rPr sz="1800">
                <a:solidFill>
                  <a:srgbClr val="C7BDD2"/>
                </a:solidFill>
              </a:rPr>
              <a:t>DEUTSCH      CTA text clips by 77 px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800">
                <a:solidFill>
                  <a:srgbClr val="C7BDD2"/>
                </a:solidFill>
              </a:defRPr>
            </a:pPr>
            <a:r>
              <a:rPr sz="1800">
                <a:solidFill>
                  <a:srgbClr val="C7BDD2"/>
                </a:solidFill>
              </a:rPr>
              <a:t>العربية       page remains left-to-right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800">
                <a:solidFill>
                  <a:srgbClr val="C7BDD2"/>
                </a:solidFill>
              </a:defRPr>
            </a:pPr>
            <a:r>
              <a:rPr sz="1800">
                <a:solidFill>
                  <a:srgbClr val="C7BDD2"/>
                </a:solidFill>
              </a:rPr>
              <a:t>日本語         raw key cta.primary reaches users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800">
                <a:solidFill>
                  <a:srgbClr val="C7BDD2"/>
                </a:solidFill>
              </a:defRPr>
            </a:pPr>
            <a:r>
              <a:rPr sz="1800">
                <a:solidFill>
                  <a:srgbClr val="C7BDD2"/>
                </a:solidFill>
              </a:rPr>
              <a:t>FRANÇAIS      {amount} placeholder disappears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rPr sz="1400">
                <a:solidFill>
                  <a:srgbClr val="B8AFC4"/>
                </a:solidFill>
              </a:rP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800">
                <a:solidFill>
                  <a:srgbClr val="C7BDD2"/>
                </a:solidFill>
              </a:defRPr>
            </a:pPr>
            <a:r>
              <a:rPr sz="1800">
                <a:solidFill>
                  <a:srgbClr val="C7BDD2"/>
                </a:solidFill>
              </a:rPr>
              <a:t>These failures appear when language meets layout, accessibility and runtime behaviour—not when a model returns a string.</a:t>
            </a:r>
          </a:p>
        </p:txBody>
      </p:sp>
    </p:spTree>
    <p:extLst>
      <p:ext uri="{BB962C8B-B14F-4D97-AF65-F5344CB8AC3E}">
        <p14:creationId xmlns:p14="http://schemas.microsoft.com/office/powerpoint/2010/main" val="19144697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20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5A86E12-C842-4AFA-9E7B-C6B02862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90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 b="1">
                <a:solidFill>
                  <a:srgbClr val="FACC15"/>
                </a:solidFill>
              </a:defRPr>
            </a:pPr>
            <a:r>
              <a:rPr sz="1125" b="1">
                <a:solidFill>
                  <a:srgbClr val="FACC15"/>
                </a:solidFill>
              </a:rPr>
              <a:t>THE CLOSED LOOP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152EA7-C76E-44EF-B8D0-25E100A1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8001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750" b="1">
                <a:solidFill>
                  <a:srgbClr val="FFFAF0"/>
                </a:solidFill>
              </a:defRPr>
            </a:pPr>
            <a:r>
              <a:rPr sz="3750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Evidence before repair.</a:t>
            </a:r>
          </a:p>
          <a:p xmlns:a="http://schemas.openxmlformats.org/drawingml/2006/main">
            <a:pPr marL="0" indent="0">
              <a:buNone/>
              <a:defRPr sz="3750" b="1">
                <a:solidFill>
                  <a:srgbClr val="FFFAF0"/>
                </a:solidFill>
              </a:defRPr>
            </a:pPr>
            <a:r>
              <a:rPr sz="3750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The same evidence after.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61175ED-BD65-4B10-9987-C6D0904E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7810500" cy="1866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2200"/>
              </a:lnSpc>
              <a:buNone/>
              <a:defRPr sz="1875" b="1">
                <a:solidFill>
                  <a:srgbClr val="C7BDD2"/>
                </a:solidFill>
              </a:defRPr>
            </a:pPr>
            <a:r>
              <a:rPr sz="1875" b="1">
                <a:solidFill>
                  <a:srgbClr val="C7BDD2"/>
                </a:solidFill>
              </a:rPr>
              <a:t>DISCOVER  →  RENDER  →  MEASURE  →  DIAGNOSE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875" b="1">
                <a:solidFill>
                  <a:srgbClr val="C7BDD2"/>
                </a:solidFill>
              </a:defRPr>
            </a:pPr>
            <a:r>
              <a:rPr sz="1875" b="1">
                <a:solidFill>
                  <a:srgbClr val="C7BDD2"/>
                </a:solidFill>
              </a:rPr>
              <a:t>                                      ↓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875" b="1">
                <a:solidFill>
                  <a:srgbClr val="C7BDD2"/>
                </a:solidFill>
              </a:defRPr>
            </a:pPr>
            <a:r>
              <a:rPr sz="1875" b="1">
                <a:solidFill>
                  <a:srgbClr val="C7BDD2"/>
                </a:solidFill>
              </a:rPr>
              <a:t>PROVE  ←  IDENTICAL RERUN  ←  ALLOWLISTED DIFF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875" b="1">
                <a:solidFill>
                  <a:srgbClr val="C7BDD2"/>
                </a:solidFill>
              </a:defRPr>
            </a:pPr>
            <a:r>
              <a:rPr sz="1875" b="1">
                <a:solidFill>
                  <a:srgbClr val="C7BDD2"/>
                </a:solidFill>
              </a:rPr>
              <a:t>The model may propose. Only the measured predicate can pass.</a:t>
            </a:r>
          </a:p>
        </p:txBody>
      </p:sp>
    </p:spTree>
    <p:extLst>
      <p:ext uri="{BB962C8B-B14F-4D97-AF65-F5344CB8AC3E}">
        <p14:creationId xmlns:p14="http://schemas.microsoft.com/office/powerpoint/2010/main" val="15871320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0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D93FA77-5111-445E-9476-A6559BE3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90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 b="1">
                <a:solidFill>
                  <a:srgbClr val="FACC15"/>
                </a:solidFill>
              </a:defRPr>
            </a:pPr>
            <a:r>
              <a:rPr sz="1125" b="1">
                <a:solidFill>
                  <a:srgbClr val="FACC15"/>
                </a:solidFill>
              </a:rPr>
              <a:t>REAL PUBLIC SITES · REAL BROWSER ARTIFACTS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10D9B23-033D-4BE0-A145-F0DE741C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9057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525" b="1">
                <a:solidFill>
                  <a:srgbClr val="FFFAF0"/>
                </a:solidFill>
              </a:defRPr>
            </a:pPr>
            <a:r>
              <a:rPr sz="3525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A URL becomes browser evidence.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88D2831-15E3-440C-A118-A3015DBEC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4286250" cy="2952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HOSTED QUICK SCAN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Real Chromium in the Vercel function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One route · one viewport · up to 3 locales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DOM measurements · axe · screenshots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Nothing persisted · 60-second ceiling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rPr sz="1400">
                <a:solidFill>
                  <a:srgbClr val="B8AFC4"/>
                </a:solidFill>
              </a:rP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LOCAL / CI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Full route × locale × viewport matrix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rPr sz="1400">
                <a:solidFill>
                  <a:srgbClr val="B8AFC4"/>
                </a:solidFill>
              </a:rP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Shown: actual Wikipedia browser artifact from the CLI path.</a:t>
            </a:r>
          </a:p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f6b91ed00f4158"/>
          <a:srcRect xmlns:a="http://schemas.openxmlformats.org/drawingml/2006/main" l="0" t="0" r="0" b="70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00700" y="1466850"/>
            <a:ext cx="2667000" cy="3333750"/>
          </a:xfrm>
          <a:prstGeom xmlns:a="http://schemas.openxmlformats.org/drawingml/2006/main" prst="roundRect">
            <a:avLst>
              <a:gd name="adj" fmla="val 5000"/>
            </a:avLst>
          </a:prstGeom>
        </p:spPr>
      </p:pic>
    </p:spTree>
    <p:extLst>
      <p:ext uri="{BB962C8B-B14F-4D97-AF65-F5344CB8AC3E}">
        <p14:creationId xmlns:p14="http://schemas.microsoft.com/office/powerpoint/2010/main" val="2763359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20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BB99AB0-598F-484A-80DF-AA606E98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90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 b="1">
                <a:solidFill>
                  <a:srgbClr val="FACC15"/>
                </a:solidFill>
              </a:defRPr>
            </a:pPr>
            <a:r>
              <a:rPr sz="1125" b="1">
                <a:solidFill>
                  <a:srgbClr val="FACC15"/>
                </a:solidFill>
              </a:rPr>
              <a:t>ONE DETERMINISTIC FINDING · NEXT.JS FIXTURE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6888C05-8419-4E66-A7B2-8DE4EE80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90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525" b="1">
                <a:solidFill>
                  <a:srgbClr val="FFFAF0"/>
                </a:solidFill>
              </a:defRPr>
            </a:pPr>
            <a:r>
              <a:rPr sz="3525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Every issue is falsifiable.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0F5B48D-506C-47DC-AA17-166A2C42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4857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  <a:latin typeface="Consolas"/>
                <a:ea typeface="Consolas"/>
                <a:cs typeface="Consolas"/>
              </a:rPr>
              <a:t>BF-VIS-TEXT-OVERFLOW-X · de-DE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  <a:latin typeface="Consolas"/>
                <a:ea typeface="Consolas"/>
                <a:cs typeface="Consolas"/>
              </a:rPr>
              <a:t>TEXT       Kostenlos mit Meridian starten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  <a:latin typeface="Consolas"/>
                <a:ea typeface="Consolas"/>
                <a:cs typeface="Consolas"/>
              </a:rPr>
              <a:t>MEASURE    245 px scroll / 168 px client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  <a:latin typeface="Consolas"/>
                <a:ea typeface="Consolas"/>
                <a:cs typeface="Consolas"/>
              </a:rPr>
              <a:t>DELTA      +77 px · overflow hidden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  <a:latin typeface="Consolas"/>
                <a:ea typeface="Consolas"/>
                <a:cs typeface="Consolas"/>
              </a:rPr>
              <a:t>LOCATED    [data-testid="cta-primary"]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  <a:latin typeface="Consolas"/>
                <a:ea typeface="Consolas"/>
                <a:cs typeface="Consolas"/>
              </a:rPr>
              <a:t>PREDICATE  scrollWidth ≤ clientWidth + 2</a:t>
            </a:r>
          </a:p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f6aa76615e47af"/>
          <a:srcRect xmlns:a="http://schemas.openxmlformats.org/drawingml/2006/main" l="0" t="0" r="0" b="4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447800"/>
            <a:ext cx="2333625" cy="335280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</p:spTree>
    <p:extLst>
      <p:ext uri="{BB962C8B-B14F-4D97-AF65-F5344CB8AC3E}">
        <p14:creationId xmlns:p14="http://schemas.microsoft.com/office/powerpoint/2010/main" val="13703004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0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862F514-03F0-4587-97BE-6AB6DB61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90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 b="1">
                <a:solidFill>
                  <a:srgbClr val="FACC15"/>
                </a:solidFill>
              </a:defRPr>
            </a:pPr>
            <a:r>
              <a:rPr sz="1125" b="1">
                <a:solidFill>
                  <a:srgbClr val="FACC15"/>
                </a:solidFill>
              </a:rPr>
              <a:t>BOUNDED SOURCE REPAIR · NEXT.JS FIXTURE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2D11C04-99C6-405D-B07F-473DE169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66750"/>
            <a:ext cx="5334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450" b="1">
                <a:solidFill>
                  <a:srgbClr val="FFFAF0"/>
                </a:solidFill>
              </a:defRPr>
            </a:pPr>
            <a:r>
              <a:rPr sz="3450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6 blockers. 3 files.</a:t>
            </a:r>
          </a:p>
          <a:p xmlns:a="http://schemas.openxmlformats.org/drawingml/2006/main">
            <a:pPr marL="0" indent="0">
              <a:buNone/>
              <a:defRPr sz="3450" b="1">
                <a:solidFill>
                  <a:srgbClr val="FFFAF0"/>
                </a:solidFill>
              </a:defRPr>
            </a:pPr>
            <a:r>
              <a:rPr sz="3450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Identical rerun: 0.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2106611-5DEF-46E3-8695-1DBA310D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4714875" cy="2476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2200"/>
              </a:lnSpc>
              <a:buNone/>
              <a:defRPr sz="1650">
                <a:solidFill>
                  <a:srgbClr val="C7BDD2"/>
                </a:solidFill>
              </a:defRPr>
            </a:pPr>
            <a:r>
              <a:rPr sz="1650">
                <a:solidFill>
                  <a:srgbClr val="C7BDD2"/>
                </a:solidFill>
              </a:rPr>
              <a:t>layout.tsx    lang + dir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650">
                <a:solidFill>
                  <a:srgbClr val="C7BDD2"/>
                </a:solidFill>
              </a:defRPr>
            </a:pPr>
            <a:r>
              <a:rPr sz="1650">
                <a:solidFill>
                  <a:srgbClr val="C7BDD2"/>
                </a:solidFill>
              </a:rPr>
              <a:t>globals.css   wrapping + width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650">
                <a:solidFill>
                  <a:srgbClr val="C7BDD2"/>
                </a:solidFill>
              </a:defRPr>
            </a:pPr>
            <a:r>
              <a:rPr sz="1650">
                <a:solidFill>
                  <a:srgbClr val="C7BDD2"/>
                </a:solidFill>
              </a:rPr>
              <a:t>ja-JP.json    missing key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rPr sz="1300">
                <a:solidFill>
                  <a:srgbClr val="B8AFC4"/>
                </a:solidFill>
              </a:rP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650">
                <a:solidFill>
                  <a:srgbClr val="C7BDD2"/>
                </a:solidFill>
              </a:defRPr>
            </a:pPr>
            <a:r>
              <a:rPr sz="1650">
                <a:solidFill>
                  <a:srgbClr val="C7BDD2"/>
                </a:solidFill>
              </a:rPr>
              <a:t>✓ git apply --check exited 0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650">
                <a:solidFill>
                  <a:srgbClr val="C7BDD2"/>
                </a:solidFill>
              </a:defRPr>
            </a:pPr>
            <a:r>
              <a:rPr sz="1650">
                <a:solidFill>
                  <a:srgbClr val="C7BDD2"/>
                </a:solidFill>
              </a:rPr>
              <a:t>✓ source locale 0 → 0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650">
                <a:solidFill>
                  <a:srgbClr val="C7BDD2"/>
                </a:solidFill>
              </a:defRPr>
            </a:pPr>
            <a:r>
              <a:rPr sz="1650">
                <a:solidFill>
                  <a:srgbClr val="C7BDD2"/>
                </a:solidFill>
              </a:rPr>
              <a:t>✓ new blockers 0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650">
                <a:solidFill>
                  <a:srgbClr val="C7BDD2"/>
                </a:solidFill>
              </a:defRPr>
            </a:pPr>
            <a:r>
              <a:rPr sz="1650">
                <a:solidFill>
                  <a:srgbClr val="C7BDD2"/>
                </a:solidFill>
              </a:rPr>
              <a:t>✓ rollback snapshot restored</a:t>
            </a:r>
          </a:p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a9d125141343be"/>
          <a:srcRect xmlns:a="http://schemas.openxmlformats.org/drawingml/2006/main" l="0" t="0" r="0" b="42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428750"/>
            <a:ext cx="2333625" cy="33718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</p:spTree>
    <p:extLst>
      <p:ext uri="{BB962C8B-B14F-4D97-AF65-F5344CB8AC3E}">
        <p14:creationId xmlns:p14="http://schemas.microsoft.com/office/powerpoint/2010/main" val="18148012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0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FE2C8F1-4834-4DF3-BB61-B48AFD36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90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 b="1">
                <a:solidFill>
                  <a:srgbClr val="FACC15"/>
                </a:solidFill>
              </a:defRPr>
            </a:pPr>
            <a:r>
              <a:rPr sz="1125" b="1">
                <a:solidFill>
                  <a:srgbClr val="FACC15"/>
                </a:solidFill>
              </a:rPr>
              <a:t>SAFE BY CONSTRUCTION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2F7DD5A-8977-4823-9E04-53C750E5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7810500" cy="1733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450" b="1">
                <a:solidFill>
                  <a:srgbClr val="FFFAF0"/>
                </a:solidFill>
              </a:defRPr>
            </a:pPr>
            <a:r>
              <a:rPr sz="3450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The scanner may read URLs.</a:t>
            </a:r>
          </a:p>
          <a:p xmlns:a="http://schemas.openxmlformats.org/drawingml/2006/main">
            <a:pPr marL="0" indent="0">
              <a:buNone/>
              <a:defRPr sz="3450" b="1">
                <a:solidFill>
                  <a:srgbClr val="FFFAF0"/>
                </a:solidFill>
              </a:defRPr>
            </a:pPr>
            <a:r>
              <a:rPr sz="3450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The repair may write code.</a:t>
            </a:r>
          </a:p>
          <a:p xmlns:a="http://schemas.openxmlformats.org/drawingml/2006/main">
            <a:pPr marL="0" indent="0">
              <a:buNone/>
              <a:defRPr sz="3450" b="1">
                <a:solidFill>
                  <a:srgbClr val="FFFAF0"/>
                </a:solidFill>
              </a:defRPr>
            </a:pPr>
            <a:r>
              <a:rPr sz="3450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Both are fenced.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A51D30C-5B15-4E19-A3C1-6C252FE8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7810500" cy="2019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2200"/>
              </a:lnSpc>
              <a:buNone/>
              <a:defRPr sz="1575">
                <a:solidFill>
                  <a:srgbClr val="C7BDD2"/>
                </a:solidFill>
              </a:defRPr>
            </a:pPr>
            <a:r>
              <a:rPr sz="1575">
                <a:solidFill>
                  <a:srgbClr val="C7BDD2"/>
                </a:solidFill>
              </a:rPr>
              <a:t>URL BOUNDARY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75">
                <a:solidFill>
                  <a:srgbClr val="C7BDD2"/>
                </a:solidFill>
              </a:defRPr>
            </a:pPr>
            <a:r>
              <a:rPr sz="1575">
                <a:solidFill>
                  <a:srgbClr val="C7BDD2"/>
                </a:solidFill>
              </a:rPr>
              <a:t>protocol → DNS → redirects → every subrequest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75">
                <a:solidFill>
                  <a:srgbClr val="C7BDD2"/>
                </a:solidFill>
              </a:defRPr>
            </a:pPr>
            <a:r>
              <a:rPr sz="1575">
                <a:solidFill>
                  <a:srgbClr val="C7BDD2"/>
                </a:solidFill>
              </a:rPr>
              <a:t>private networks blocked · 500-request cap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rPr sz="1300">
                <a:solidFill>
                  <a:srgbClr val="B8AFC4"/>
                </a:solidFill>
              </a:rP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75">
                <a:solidFill>
                  <a:srgbClr val="C7BDD2"/>
                </a:solidFill>
              </a:defRPr>
            </a:pPr>
            <a:r>
              <a:rPr sz="1575">
                <a:solidFill>
                  <a:srgbClr val="C7BDD2"/>
                </a:solidFill>
              </a:rPr>
              <a:t>REPAIR BOUNDARY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75">
                <a:solidFill>
                  <a:srgbClr val="C7BDD2"/>
                </a:solidFill>
              </a:defRPr>
            </a:pPr>
            <a:r>
              <a:rPr sz="1575">
                <a:solidFill>
                  <a:srgbClr val="C7BDD2"/>
                </a:solidFill>
              </a:rPr>
              <a:t>explicit scan ID + issue IDs · path allowlist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75">
                <a:solidFill>
                  <a:srgbClr val="C7BDD2"/>
                </a:solidFill>
              </a:defRPr>
            </a:pPr>
            <a:r>
              <a:rPr sz="1575">
                <a:solidFill>
                  <a:srgbClr val="C7BDD2"/>
                </a:solidFill>
              </a:rPr>
              <a:t>symlinks rejected · dry run · diff first · rollback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rPr sz="1300">
                <a:solidFill>
                  <a:srgbClr val="B8AFC4"/>
                </a:solidFill>
              </a:rP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75">
                <a:solidFill>
                  <a:srgbClr val="C7BDD2"/>
                </a:solidFill>
              </a:defRPr>
            </a:pPr>
            <a:r>
              <a:rPr sz="1575">
                <a:solidFill>
                  <a:srgbClr val="C7BDD2"/>
                </a:solidFill>
              </a:rPr>
              <a:t>Only the identical predicate can return VERIFIED.</a:t>
            </a:r>
          </a:p>
        </p:txBody>
      </p:sp>
    </p:spTree>
    <p:extLst>
      <p:ext uri="{BB962C8B-B14F-4D97-AF65-F5344CB8AC3E}">
        <p14:creationId xmlns:p14="http://schemas.microsoft.com/office/powerpoint/2010/main" val="15535528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20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F467A3-3098-4FD6-81D3-B9CBDE10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90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 b="1">
                <a:solidFill>
                  <a:srgbClr val="FACC15"/>
                </a:solidFill>
              </a:defRPr>
            </a:pPr>
            <a:r>
              <a:rPr sz="1125" b="1">
                <a:solidFill>
                  <a:srgbClr val="FACC15"/>
                </a:solidFill>
              </a:rPr>
              <a:t>EFFECTIVE USE OF CODEX · MCP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9405A3B-9BD8-4292-847E-49206F92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5429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525" b="1">
                <a:solidFill>
                  <a:srgbClr val="FFFAF0"/>
                </a:solidFill>
              </a:defRPr>
            </a:pPr>
            <a:r>
              <a:rPr sz="3525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Codex calls the gate.</a:t>
            </a:r>
          </a:p>
          <a:p xmlns:a="http://schemas.openxmlformats.org/drawingml/2006/main">
            <a:pPr marL="0" indent="0">
              <a:buNone/>
              <a:defRPr sz="3525" b="1">
                <a:solidFill>
                  <a:srgbClr val="FFFAF0"/>
                </a:solidFill>
              </a:defRPr>
            </a:pPr>
            <a:r>
              <a:rPr sz="3525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The gate answers with proof.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0ACD916-A87E-44A5-8982-EE2A4E38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048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spawned STDIO process · 18 strict tools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Inspector + MCPC independently invoked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rPr sz="1300">
                <a:solidFill>
                  <a:srgbClr val="B8AFC4"/>
                </a:solidFill>
              </a:rP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inspect → create scan → run → list issues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→ prepare dry run → apply approved IDs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→ rerun identical predicates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rPr sz="1300">
                <a:solidFill>
                  <a:srgbClr val="B8AFC4"/>
                </a:solidFill>
              </a:rP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Fixture-scoped receipt: 10 blocking → 0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source locale PASS · status VERIFIED</a:t>
            </a:r>
          </a:p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f72430c4e8450d"/>
          <a:srcRect xmlns:a="http://schemas.openxmlformats.org/drawingml/2006/main" l="0" t="43000" r="0" b="1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914400"/>
            <a:ext cx="2190750" cy="3886200"/>
          </a:xfrm>
          <a:prstGeom xmlns:a="http://schemas.openxmlformats.org/drawingml/2006/main" prst="roundRect">
            <a:avLst>
              <a:gd name="adj" fmla="val 6087"/>
            </a:avLst>
          </a:prstGeom>
        </p:spPr>
      </p:pic>
    </p:spTree>
    <p:extLst>
      <p:ext uri="{BB962C8B-B14F-4D97-AF65-F5344CB8AC3E}">
        <p14:creationId xmlns:p14="http://schemas.microsoft.com/office/powerpoint/2010/main" val="9909286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20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2DD5D8B-7667-48C5-8227-04726116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90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 b="1">
                <a:solidFill>
                  <a:srgbClr val="FACC15"/>
                </a:solidFill>
              </a:defRPr>
            </a:pPr>
            <a:r>
              <a:rPr sz="1125" b="1">
                <a:solidFill>
                  <a:srgbClr val="FACC15"/>
                </a:solidFill>
              </a:rPr>
              <a:t>SEEDED FIXTURE BENCHMARK · NOT A MARKET CLAIM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E4146A-8469-48EB-BD0D-EFFC1CCF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5715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600" b="1">
                <a:solidFill>
                  <a:srgbClr val="FFFAF0"/>
                </a:solidFill>
              </a:defRPr>
            </a:pPr>
            <a:r>
              <a:rPr sz="3600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70 labelled defects.</a:t>
            </a:r>
          </a:p>
          <a:p xmlns:a="http://schemas.openxmlformats.org/drawingml/2006/main">
            <a:pPr marL="0" indent="0">
              <a:buNone/>
              <a:defRPr sz="3600" b="1">
                <a:solidFill>
                  <a:srgbClr val="FFFAF0"/>
                </a:solidFill>
              </a:defRPr>
            </a:pPr>
            <a:r>
              <a:rPr sz="3600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204 expected detections.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85732EE-834E-4DAB-B9EC-9E81A103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143500" cy="2524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12 rule families · 12 locales · 3 viewports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288 Chromium renders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FIXTURE RECALL             100%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FIXTURE PRECISION          100%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CLEAN VARIANT FINDINGS       0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Real public-site scans exposed two rule defects;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500">
                <a:solidFill>
                  <a:srgbClr val="C7BDD2"/>
                </a:solidFill>
              </a:defRPr>
            </a:pPr>
            <a:r>
              <a:rPr sz="1500">
                <a:solidFill>
                  <a:srgbClr val="C7BDD2"/>
                </a:solidFill>
              </a:rPr>
              <a:t>both were fixed in the engine.</a:t>
            </a:r>
          </a:p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25fcd634de4ed4"/>
          <a:srcRect xmlns:a="http://schemas.openxmlformats.org/drawingml/2006/main" l="0" t="0" r="0" b="38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1390650"/>
            <a:ext cx="2000250" cy="327660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</p:spTree>
    <p:extLst>
      <p:ext uri="{BB962C8B-B14F-4D97-AF65-F5344CB8AC3E}">
        <p14:creationId xmlns:p14="http://schemas.microsoft.com/office/powerpoint/2010/main" val="5833473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20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F3B8FBF-5E8B-4F8D-980A-14E223EB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90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25" b="1">
                <a:solidFill>
                  <a:srgbClr val="FACC15"/>
                </a:solidFill>
              </a:defRPr>
            </a:pPr>
            <a:r>
              <a:rPr sz="1125" b="1">
                <a:solidFill>
                  <a:srgbClr val="FACC15"/>
                </a:solidFill>
              </a:rPr>
              <a:t>OPEN SOURCE · NO MODEL KEY REQUIRED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69987E-08C2-489E-BAB1-2EC75844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5334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825" b="1">
                <a:solidFill>
                  <a:srgbClr val="FFFAF0"/>
                </a:solidFill>
              </a:defRPr>
            </a:pPr>
            <a:r>
              <a:rPr sz="3825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Scan now.</a:t>
            </a:r>
          </a:p>
          <a:p xmlns:a="http://schemas.openxmlformats.org/drawingml/2006/main">
            <a:pPr marL="0" indent="0">
              <a:buNone/>
              <a:defRPr sz="3825" b="1">
                <a:solidFill>
                  <a:srgbClr val="FFFAF0"/>
                </a:solidFill>
              </a:defRPr>
            </a:pPr>
            <a:r>
              <a:rPr sz="3825" b="1">
                <a:solidFill>
                  <a:srgbClr val="FFFAF0"/>
                </a:solidFill>
                <a:latin typeface="Georgia"/>
                <a:ea typeface="Georgia"/>
                <a:cs typeface="Georgia"/>
              </a:rPr>
              <a:t>Prove before release.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BB9B0D1-DABD-4D93-88CE-0F03E203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5238750" cy="2628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2200"/>
              </a:lnSpc>
              <a:buNone/>
              <a:defRPr sz="1425">
                <a:solidFill>
                  <a:srgbClr val="C7BDD2"/>
                </a:solidFill>
              </a:defRPr>
            </a:pPr>
            <a:r>
              <a:rPr sz="1425">
                <a:solidFill>
                  <a:srgbClr val="C7BDD2"/>
                </a:solidFill>
              </a:rPr>
              <a:t>bhashafix.vercel.app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425">
                <a:solidFill>
                  <a:srgbClr val="C7BDD2"/>
                </a:solidFill>
              </a:defRPr>
            </a:pPr>
            <a:r>
              <a:rPr sz="1425">
                <a:solidFill>
                  <a:srgbClr val="C7BDD2"/>
                </a:solidFill>
              </a:rPr>
              <a:t>github.com/vaibhav4046/bhashafix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425">
                <a:solidFill>
                  <a:srgbClr val="C7BDD2"/>
                </a:solidFill>
              </a:defRPr>
            </a:pPr>
            <a:r>
              <a:rPr sz="1425">
                <a:solidFill>
                  <a:srgbClr val="C7BDD2"/>
                </a:solidFill>
              </a:rPr>
              <a:t>git clone https://github.com/vaibhav4046/bhashafix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425">
                <a:solidFill>
                  <a:srgbClr val="C7BDD2"/>
                </a:solidFill>
              </a:defRPr>
            </a:pPr>
            <a:r>
              <a:rPr sz="1425">
                <a:solidFill>
                  <a:srgbClr val="C7BDD2"/>
                </a:solidFill>
              </a:rPr>
              <a:t>pnpm install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425">
                <a:solidFill>
                  <a:srgbClr val="C7BDD2"/>
                </a:solidFill>
              </a:defRPr>
            </a:pPr>
            <a:r>
              <a:rPr sz="1425">
                <a:solidFill>
                  <a:srgbClr val="C7BDD2"/>
                </a:solidFill>
              </a:rPr>
              <a:t>pnpm bhashafix scan --url https://example.com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</a:pPr>
            <a:r>
              <a:rPr sz="1300">
                <a:solidFill>
                  <a:srgbClr val="B8AFC4"/>
                </a:solidFill>
              </a:rPr>
              <a:t/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425">
                <a:solidFill>
                  <a:srgbClr val="C7BDD2"/>
                </a:solidFill>
              </a:defRPr>
            </a:pPr>
            <a:r>
              <a:rPr sz="1425">
                <a:solidFill>
                  <a:srgbClr val="C7BDD2"/>
                </a:solidFill>
              </a:rPr>
              <a:t>Hosted: bounded one-route Chromium.</a:t>
            </a:r>
          </a:p>
          <a:p xmlns:a="http://schemas.openxmlformats.org/drawingml/2006/main">
            <a:pPr marL="0" indent="0">
              <a:lnSpc>
                <a:spcPts val="2200"/>
              </a:lnSpc>
              <a:buNone/>
              <a:defRPr sz="1425">
                <a:solidFill>
                  <a:srgbClr val="C7BDD2"/>
                </a:solidFill>
              </a:defRPr>
            </a:pPr>
            <a:r>
              <a:rPr sz="1425">
                <a:solidFill>
                  <a:srgbClr val="C7BDD2"/>
                </a:solidFill>
              </a:rPr>
              <a:t>Local: full matrix, artifacts and repair.</a:t>
            </a:r>
          </a:p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2225434e6748f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1750" y="1257300"/>
            <a:ext cx="2190750" cy="3476625"/>
          </a:xfrm>
          <a:prstGeom xmlns:a="http://schemas.openxmlformats.org/drawingml/2006/main" prst="roundRect">
            <a:avLst>
              <a:gd name="adj" fmla="val 6087"/>
            </a:avLst>
          </a:prstGeom>
        </p:spPr>
      </p:pic>
    </p:spTree>
    <p:extLst>
      <p:ext uri="{BB962C8B-B14F-4D97-AF65-F5344CB8AC3E}">
        <p14:creationId xmlns:p14="http://schemas.microsoft.com/office/powerpoint/2010/main" val="104571118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2026-08-02T23:44:08.5550000Z</dcterms:created>
  <dcterms:modified xsi:type="dcterms:W3CDTF">2026-08-02T23:44:08.5550000Z</dcterms:modified>
</coreProperties>
</file>