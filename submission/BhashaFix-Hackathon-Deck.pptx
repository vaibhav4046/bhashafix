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65735f384e4b66" /><Relationship Type="http://schemas.openxmlformats.org/officeDocument/2006/relationships/extended-properties" Target="/docProps/app.xml" Id="R9e6418cb228046e7" /><Relationship Type="http://schemas.openxmlformats.org/officeDocument/2006/relationships/officeDocument" Target="/ppt/presentation.xml" Id="R9a67b22033f34e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18c3f983c14cb2"/>
  </p:sldMasterIdLst>
  <p:notesMasterIdLst>
    <p:notesMasterId xmlns:r="http://schemas.openxmlformats.org/officeDocument/2006/relationships" r:id="R83609fbec64a4fa2"/>
  </p:notesMasterIdLst>
  <p:sldIdLst>
    <p:sldId xmlns:r="http://schemas.openxmlformats.org/officeDocument/2006/relationships" id="256" r:id="R8900841a319445ad"/>
    <p:sldId xmlns:r="http://schemas.openxmlformats.org/officeDocument/2006/relationships" id="257" r:id="R615662294ac3440e"/>
    <p:sldId xmlns:r="http://schemas.openxmlformats.org/officeDocument/2006/relationships" id="258" r:id="R614c3c4f55764fea"/>
    <p:sldId xmlns:r="http://schemas.openxmlformats.org/officeDocument/2006/relationships" id="259" r:id="R37c4e46daebb45d7"/>
    <p:sldId xmlns:r="http://schemas.openxmlformats.org/officeDocument/2006/relationships" id="260" r:id="R88e923a504044335"/>
    <p:sldId xmlns:r="http://schemas.openxmlformats.org/officeDocument/2006/relationships" id="261" r:id="Rcfb546134cad49ad"/>
    <p:sldId xmlns:r="http://schemas.openxmlformats.org/officeDocument/2006/relationships" id="262" r:id="Rcd6fdc4b2f424d3d"/>
    <p:sldId xmlns:r="http://schemas.openxmlformats.org/officeDocument/2006/relationships" id="263" r:id="Rc2820453587a4691"/>
    <p:sldId xmlns:r="http://schemas.openxmlformats.org/officeDocument/2006/relationships" id="264" r:id="Rfa23f25385524fdb"/>
    <p:sldId xmlns:r="http://schemas.openxmlformats.org/officeDocument/2006/relationships" id="265" r:id="R6316bd6789b447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31fb712ecbc482a" /><Relationship Type="http://schemas.openxmlformats.org/officeDocument/2006/relationships/slideMaster" Target="/ppt/slideMasters/slideMaster1.xml" Id="R0e18c3f983c14cb2" /><Relationship Type="http://schemas.openxmlformats.org/officeDocument/2006/relationships/notesMaster" Target="/ppt/notesMasters/notesMaster1.xml" Id="R83609fbec64a4fa2" /><Relationship Type="http://schemas.openxmlformats.org/officeDocument/2006/relationships/presProps" Target="/ppt/presProps.xml" Id="R1ea0a79e3fac4c77" /><Relationship Type="http://schemas.openxmlformats.org/officeDocument/2006/relationships/tableStyles" Target="/ppt/tableStyles.xml" Id="R0520fba782ec4f07" /><Relationship Type="http://schemas.openxmlformats.org/officeDocument/2006/relationships/slide" Target="/ppt/slides/slide1.xml" Id="R8900841a319445ad" /><Relationship Type="http://schemas.openxmlformats.org/officeDocument/2006/relationships/slide" Target="/ppt/slides/slide2.xml" Id="R615662294ac3440e" /><Relationship Type="http://schemas.openxmlformats.org/officeDocument/2006/relationships/slide" Target="/ppt/slides/slide3.xml" Id="R614c3c4f55764fea" /><Relationship Type="http://schemas.openxmlformats.org/officeDocument/2006/relationships/slide" Target="/ppt/slides/slide4.xml" Id="R37c4e46daebb45d7" /><Relationship Type="http://schemas.openxmlformats.org/officeDocument/2006/relationships/slide" Target="/ppt/slides/slide5.xml" Id="R88e923a504044335" /><Relationship Type="http://schemas.openxmlformats.org/officeDocument/2006/relationships/slide" Target="/ppt/slides/slide6.xml" Id="Rcfb546134cad49ad" /><Relationship Type="http://schemas.openxmlformats.org/officeDocument/2006/relationships/slide" Target="/ppt/slides/slide7.xml" Id="Rcd6fdc4b2f424d3d" /><Relationship Type="http://schemas.openxmlformats.org/officeDocument/2006/relationships/slide" Target="/ppt/slides/slide8.xml" Id="Rc2820453587a4691" /><Relationship Type="http://schemas.openxmlformats.org/officeDocument/2006/relationships/slide" Target="/ppt/slides/slide9.xml" Id="Rfa23f25385524fdb" /><Relationship Type="http://schemas.openxmlformats.org/officeDocument/2006/relationships/slide" Target="/ppt/slides/slide10.xml" Id="R6316bd6789b447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c8573fb19e48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50fba6f3f6452d" /><Relationship Type="http://schemas.openxmlformats.org/officeDocument/2006/relationships/notesMaster" Target="/ppt/notesMasters/notesMaster1.xml" Id="R9d44ce3b5d544d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c0fcaf7bcd4647" /><Relationship Type="http://schemas.openxmlformats.org/officeDocument/2006/relationships/notesMaster" Target="/ppt/notesMasters/notesMaster1.xml" Id="Rfd6fdb5222ab4c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322721210e4a44" /><Relationship Type="http://schemas.openxmlformats.org/officeDocument/2006/relationships/notesMaster" Target="/ppt/notesMasters/notesMaster1.xml" Id="Rd00a6ee84d5b43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d9955944e54136" /><Relationship Type="http://schemas.openxmlformats.org/officeDocument/2006/relationships/notesMaster" Target="/ppt/notesMasters/notesMaster1.xml" Id="R32fcf48dc58044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f2e8fedfd14827" /><Relationship Type="http://schemas.openxmlformats.org/officeDocument/2006/relationships/notesMaster" Target="/ppt/notesMasters/notesMaster1.xml" Id="Rebf5f5fdf1e444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d9379c147a4b4a" /><Relationship Type="http://schemas.openxmlformats.org/officeDocument/2006/relationships/notesMaster" Target="/ppt/notesMasters/notesMaster1.xml" Id="Rf55aa038ac2544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93932d95684d6b" /><Relationship Type="http://schemas.openxmlformats.org/officeDocument/2006/relationships/notesMaster" Target="/ppt/notesMasters/notesMaster1.xml" Id="R1beabcc1508a47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10c3bc22654107" /><Relationship Type="http://schemas.openxmlformats.org/officeDocument/2006/relationships/notesMaster" Target="/ppt/notesMasters/notesMaster1.xml" Id="R3c6e1bdfbd9945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5795947be84858" /><Relationship Type="http://schemas.openxmlformats.org/officeDocument/2006/relationships/notesMaster" Target="/ppt/notesMasters/notesMaster1.xml" Id="R2984763aa50f48d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0d40c06e494bc6" /><Relationship Type="http://schemas.openxmlformats.org/officeDocument/2006/relationships/notesMaster" Target="/ppt/notesMasters/notesMaster1.xml" Id="R5dae1da5a1dd40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submission/screenshots/04-scan-workspace.png.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submission/screenshots/03-landing-mobile.png.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submission/screenshots/07-issue-evidence.png.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Official MCP Inspector and MCPC receipts: artifacts/mcp-inspector-receipt.json and artifacts/mcpc-smoke/receipt.json.</a:t>
            </a:r>
          </a:p>
          <a:p xmlns:a="http://schemas.openxmlformats.org/drawingml/2006/main">
            <a:r>
              <a:t>-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AtlasPay release proof, generated 30 July 2026.</a:t>
            </a:r>
          </a:p>
          <a:p xmlns:a="http://schemas.openxmlformats.org/drawingml/2006/main">
            <a:r>
              <a:t>- Actual local Playwright/browser proof: submission/screenshots/05-proof-report.png.</a:t>
            </a:r>
          </a:p>
          <a:p xmlns:a="http://schemas.openxmlformats.org/drawingml/2006/main">
            <a:r>
              <a:t>- Live public target scanned on 30 July 2026: https://www.mozilla.org/.</a:t>
            </a:r>
          </a:p>
          <a:p xmlns:a="http://schemas.openxmlformats.org/drawingml/2006/main">
            <a:r>
              <a:t>- Live BhashaFix scan screenshot: submission/screenshots/10-live-public-product-proof.png.</a:t>
            </a:r>
          </a:p>
          <a:p xmlns:a="http://schemas.openxmlformats.org/drawingml/2006/main">
            <a:r>
              <a:t>- Live scan receipt: artifacts/live-public-scan-receipt.json.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submission/screenshots/06-bounded-repair.png.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submission/screenshots/04-scan-workspace.png.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54e2be11f142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5e7614acdc4941" /><Relationship Type="http://schemas.openxmlformats.org/officeDocument/2006/relationships/slideLayout" Target="/ppt/slideLayouts/slideLayout1.xml" Id="Rc98f2d47c72445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8f2d47c72445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668a4efb04f7d" /><Relationship Type="http://schemas.openxmlformats.org/officeDocument/2006/relationships/image" Target="/ppt/media/image.png" Id="Rb0249a2706e14e09" /><Relationship Type="http://schemas.openxmlformats.org/officeDocument/2006/relationships/notesSlide" Target="/ppt/notesSlides/notesSlide1.xml" Id="R777b407d821744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345fbcc944fc4" /><Relationship Type="http://schemas.openxmlformats.org/officeDocument/2006/relationships/image" Target="/ppt/media/image2.png" Id="Rf2a00c94d75540cf" /><Relationship Type="http://schemas.openxmlformats.org/officeDocument/2006/relationships/notesSlide" Target="/ppt/notesSlides/notesSlide2.xml" Id="R239cd96820df4a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365ad3ddb24f3b" /><Relationship Type="http://schemas.openxmlformats.org/officeDocument/2006/relationships/notesSlide" Target="/ppt/notesSlides/notesSlide3.xml" Id="R2fe7345c67cb4e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9c9a1d2d248b9" /><Relationship Type="http://schemas.openxmlformats.org/officeDocument/2006/relationships/image" Target="/ppt/media/image.jpeg" Id="R0842705fbf954356" /><Relationship Type="http://schemas.openxmlformats.org/officeDocument/2006/relationships/notesSlide" Target="/ppt/notesSlides/notesSlide4.xml" Id="R38ec38ea797247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85561873c4a2d" /><Relationship Type="http://schemas.openxmlformats.org/officeDocument/2006/relationships/notesSlide" Target="/ppt/notesSlides/notesSlide5.xml" Id="R6c7da3be9af349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1abd717d54379" /><Relationship Type="http://schemas.openxmlformats.org/officeDocument/2006/relationships/image" Target="/ppt/media/image3.png" Id="R2b85b12b26404be1" /><Relationship Type="http://schemas.openxmlformats.org/officeDocument/2006/relationships/notesSlide" Target="/ppt/notesSlides/notesSlide6.xml" Id="R56c2b352e4854f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56ac962cf54904" /><Relationship Type="http://schemas.openxmlformats.org/officeDocument/2006/relationships/notesSlide" Target="/ppt/notesSlides/notesSlide7.xml" Id="R1ad67599e7b243c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c03eef3114951" /><Relationship Type="http://schemas.openxmlformats.org/officeDocument/2006/relationships/image" Target="/ppt/media/image2.jpeg" Id="R67287c4d90fc4bd9" /><Relationship Type="http://schemas.openxmlformats.org/officeDocument/2006/relationships/notesSlide" Target="/ppt/notesSlides/notesSlide8.xml" Id="R2aac7fbf73a544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aafd9a1824d65" /><Relationship Type="http://schemas.openxmlformats.org/officeDocument/2006/relationships/notesSlide" Target="/ppt/notesSlides/notesSlide9.xml" Id="R5d09f385cc1e44e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b8ce1fcf64df7" /><Relationship Type="http://schemas.openxmlformats.org/officeDocument/2006/relationships/image" Target="/ppt/media/image.png" Id="R46b0ba073f604a83" /><Relationship Type="http://schemas.openxmlformats.org/officeDocument/2006/relationships/notesSlide" Target="/ppt/notesSlides/notesSlide10.xml" Id="Rb77e2fa3af284ca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49a2706e14e09"/>
          <a:srcRect xmlns:a="http://schemas.openxmlformats.org/drawingml/2006/main" l="6500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9F924-AF62-4EB5-901C-504B8D1B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314B6-AF54-43A5-892D-A4034511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3400"/>
            <a:ext cx="5619750" cy="5715000"/>
          </a:xfrm>
          <a:prstGeom xmlns:a="http://schemas.openxmlformats.org/drawingml/2006/main" prst="roundRect">
            <a:avLst>
              <a:gd name="adj" fmla="val 2712"/>
            </a:avLst>
          </a:prstGeom>
          <a:solidFill xmlns:a="http://schemas.openxmlformats.org/drawingml/2006/main">
            <a:srgbClr val="0B061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88F4C-ACCC-4DF6-9C2F-6531F7D0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953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8E8"/>
                </a:solidFill>
              </a:defRPr>
            </a:pPr>
            <a:r>
              <a:rPr sz="4200" b="1">
                <a:solidFill>
                  <a:srgbClr val="FFF8E8"/>
                </a:solidFill>
              </a:rPr>
              <a:t>BhashaFix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D4A83-9389-4735-9AED-AAFD035C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431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Every language.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Every viewport.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A0A56-89CD-46E9-A46B-9191212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667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Evidence before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release.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1147E-5D2E-416D-9984-6A4E17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EF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D3D44-225F-4CFE-8535-4674E74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6EFAC"/>
                </a:solidFill>
              </a:defRPr>
            </a:pPr>
            <a:r>
              <a:rPr sz="1650" b="1">
                <a:solidFill>
                  <a:srgbClr val="86EFAC"/>
                </a:solidFill>
              </a:rPr>
              <a:t>10 → 0 · EN-GB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B026B-600C-443D-A10D-5A472DE6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102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OPEN SOURCE · APACHE-2.0</a:t>
            </a:r>
          </a:p>
        </p:txBody>
      </p:sp>
    </p:spTree>
    <p:extLst>
      <p:ext uri="{BB962C8B-B14F-4D97-AF65-F5344CB8AC3E}">
        <p14:creationId xmlns:p14="http://schemas.microsoft.com/office/powerpoint/2010/main" val="9661686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20DA23-3208-4EC3-910B-0836FD23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GLOBAL FAILURES ARE ENGINEERING FAILURES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787AE-E088-4C25-8EBE-B5699D51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95350"/>
            <a:ext cx="619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Translation passed.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Release still failed.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5A2C65-9754-434D-82FC-E021361F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9AFC8"/>
                </a:solidFill>
              </a:defRPr>
            </a:pPr>
            <a:r>
              <a:rPr sz="1650" b="0">
                <a:solidFill>
                  <a:srgbClr val="B9AFC8"/>
                </a:solidFill>
              </a:rPr>
              <a:t>Ten reproducible defects across scripts, routes and viewports.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01C819-28E4-44F8-93EF-3351916D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7BC79-29BD-4E27-ACFD-4448426D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Visual geometry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A333B-78E0-42DD-8264-4E103017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99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Glyphs clip; expanded controls overflow.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DB0F3-9675-4BBF-94D7-3CA16F1A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7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542A4-1E6E-49C8-A5B4-0C217378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57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Locale semantics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BE3D24-EB8F-4694-81B7-A4DC0F83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529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RTL, icon order and page language fail.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0AA81-75C6-402E-8FAE-1E2DCCCA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A2BDD3-218D-4F38-ADC9-BFC4DF45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00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Content integrity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F506B-7A1E-43B9-9925-1196DB69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958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Keys, fonts, wrapping, tokens and terms fail.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613A5-242B-4F69-B324-81376154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"/>
            <a:ext cx="4057650" cy="5772150"/>
          </a:xfrm>
          <a:prstGeom xmlns:a="http://schemas.openxmlformats.org/drawingml/2006/main" prst="roundRect">
            <a:avLst>
              <a:gd name="adj" fmla="val 375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a00c94d75540cf"/>
          <a:srcRect xmlns:a="http://schemas.openxmlformats.org/drawingml/2006/main" l="0" t="10366" r="0" b="103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734300" y="666750"/>
            <a:ext cx="3067050" cy="5257800"/>
          </a:xfrm>
          <a:prstGeom xmlns:a="http://schemas.openxmlformats.org/drawingml/2006/main" prst="round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6B3821-E4F6-4881-87D1-4154C923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D3BFED-70B4-48CC-A774-70D759D3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ADB5CD-D72B-42DB-84AF-0A7233C5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662614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B37DDC-1575-4714-A5DB-F4B61F9C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TRANSLATION IS NOT THE RELEASE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6C784E-7318-483B-9CE3-59A86BE0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953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Strings are only the input.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3636D-D823-4517-8786-A97E1BE7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B9AFC8"/>
                </a:solidFill>
              </a:defRPr>
            </a:pPr>
            <a:r>
              <a:rPr sz="1800" b="0">
                <a:solidFill>
                  <a:srgbClr val="B9AFC8"/>
                </a:solidFill>
              </a:rPr>
              <a:t>The missing layer is the rendered, accessible product.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78DBF-998D-4458-B871-13E4A988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74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03F90-2E23-4234-A6C5-0259F872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9560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TRANSLATION PIPELINE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EDFD79-6B6B-41D3-A649-BDEF11C5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95600"/>
            <a:ext cx="304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BHASHAFIX HARNESS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E33AA-E84C-4CBE-AAFD-3C5C52A7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000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Translate strings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Manage keys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Choose wording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E53D0-1D4B-4EA0-A171-50849815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52850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ACC15"/>
                </a:solidFill>
              </a:defRPr>
            </a:pPr>
            <a:r>
              <a:rPr sz="285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1B383A-3810-42F4-8A1A-AFE1DF51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33750"/>
            <a:ext cx="43815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Render + stress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Measure evidence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Repair safely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Prove release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7FB96F-1712-45CC-9BAC-77137B8E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95925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6EFAC"/>
                </a:solidFill>
              </a:defRPr>
            </a:pPr>
            <a:r>
              <a:rPr sz="1350" b="1">
                <a:solidFill>
                  <a:srgbClr val="86EFAC"/>
                </a:solidFill>
              </a:rPr>
              <a:t>Models can recommend. Only deterministic predicates can accept.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B7BC94-7CC9-4DB3-9EB4-C74320AD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855FCF-7000-44F6-974A-D2C13889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5FF9EE-B8FD-4AE2-B8D8-60A12F58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8162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FD0AE7-540A-4209-84F9-D870E60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THE 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86254-9F8E-43D9-9193-7C54B410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38200"/>
            <a:ext cx="657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Eleven stages. One proof loop.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2705fbf954356"/>
          <a:srcRect xmlns:a="http://schemas.openxmlformats.org/drawingml/2006/main" l="0" t="6924" r="0" b="69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591050" y="1676400"/>
            <a:ext cx="6896100" cy="37147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AAB12-E6EC-4C88-991A-866461CF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13859C-6413-4B0C-93B1-8E3FF57B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383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2F585-C0AD-418E-92EB-AD7CC41D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002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Discover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E1000-BE7B-45D1-805D-5709EE42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93B77-AEFD-480F-ADB5-9A101729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669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84604-CD63-4CA0-8A42-839CB27B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288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Render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0D0A1-AAEF-4F35-94D4-E22B56CB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3DCD79-0EE8-4D92-B2AC-992EB6EC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6FA617-926F-4CD2-B045-CE69A0F8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575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Diagnose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70BEBC-D5D2-4800-97F7-58B5B69B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F01A81-D4A6-4796-9013-C5E86298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589BF1-642F-44EE-80F1-FB8F5F04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861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Repair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B162F2-4A3C-4DC4-AE19-27837F0C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E86D3E-193F-4DBD-A13B-9928689D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A25F48-040D-44E1-ABA2-5E2206B3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148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A3332C-57BB-425B-8CD2-6E629A68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ACC15"/>
          </a:solidFill>
          <a:ln xmlns:a="http://schemas.openxmlformats.org/drawingml/2006/main" w="9525">
            <a:solidFill>
              <a:srgbClr val="FACC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6B3815-5466-4BC1-BBF2-2A4E55DE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815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0613"/>
                </a:solidFill>
              </a:defRPr>
            </a:pPr>
            <a:r>
              <a:rPr sz="975" b="1">
                <a:solidFill>
                  <a:srgbClr val="0B0613"/>
                </a:solidFill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5AFC2-0F68-4EA6-A71D-514CDF4A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434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Prove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1E32B2-3491-457B-B25F-48DC662A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3405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Every issue keeps route, locale, viewport, browser, selector, measurement and predicate.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C66F09-E1B5-496F-96F3-0A0CAEB1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95787F-C8B8-4BB0-BB15-9E488C8A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B60A6E-8802-4684-9487-F8615C0E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19571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5F1ECC-33CA-449E-8B72-DF1B2D38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ONE ENGINE · FOUR SURFACES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661D7A-1548-40F6-AD80-F289455F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The same truth everywhere.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708C7-85BD-4DDD-8A92-F1E93E15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B9AFC8"/>
                </a:solidFill>
              </a:defRPr>
            </a:pPr>
            <a:r>
              <a:rPr sz="1575" b="0">
                <a:solidFill>
                  <a:srgbClr val="B9AFC8"/>
                </a:solidFill>
              </a:rPr>
              <a:t>Shared TypeScript core. Strict schemas. One repair and verification contract.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8DF36-9B12-4C9F-B3FA-73EAE9EF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88E9D-EF49-4A0B-9515-7DC28D50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4F0FA-6DB3-4301-88D7-EC99DF87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WEB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BA730-6AF8-441B-90D6-A954D7A1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visual review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proof downloads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4E66F-6461-4CAE-A8F6-EF6C7166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1C521-4AF2-4B8A-A515-7D4C6118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C2B1A-8D1D-44C1-883E-67E68D31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D8299-14A7-463A-B40E-20F643D1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CLI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3C368-7656-4CE6-A15F-0D652EA7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stable exits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JSON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49B16-5121-494E-8BB2-A4516135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8DDA4-C02F-4DC2-8D08-03B0E701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11C1D-BC0F-45E2-A047-8B27C007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5CFBE-C57C-4293-9345-D7E38B2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MCP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E35FD-EDB1-4B70-8555-5C785B6D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18 tools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Inspector + MCPC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00EF8-1337-4C67-A1D7-90C31F5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9941B-9477-4834-BE54-7DC711C5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231339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15E53-3CBE-4EA9-A97A-E2713C68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CDB83F-14A2-4489-AA79-1C6783EE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CI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F23FD-9B1A-4358-A005-B6295F4C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severity gate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artifacts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0C4DE1-1826-4607-A833-0C813FBB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615D3-56C3-421D-805F-07307901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FB989A-DF38-4E12-84CA-35D07332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9FAD00-FAA5-4012-A239-16BAAF0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CORE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0894C4-A8EA-4468-9A85-DBD24D54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locale engines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repair + verify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B938FD-7117-4EBC-8A1F-9AD5778D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General agents call BhashaFix instead of guessing whether localisation is complete.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5904C2-F0D5-4549-8569-BCDA34B6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91CB27-DA7B-4AC4-AF25-79ACC74A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5AA4A7-A49C-4E6A-B3C1-950E2249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481277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499D63-21B6-419B-8667-7DCCE3B4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TWO REAL PROOF MODES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0FFCB-9851-41EA-9BF6-ACB483D1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23950"/>
            <a:ext cx="171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450" b="1">
                <a:solidFill>
                  <a:srgbClr val="FB7185"/>
                </a:solidFill>
              </a:defRPr>
            </a:pPr>
            <a:r>
              <a:rPr sz="9450" b="1">
                <a:solidFill>
                  <a:srgbClr val="FB7185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840A6F-D013-448C-B8AE-FEBBC3FC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ACC15"/>
                </a:solidFill>
              </a:defRPr>
            </a:pPr>
            <a:r>
              <a:rPr sz="465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7FF0B-BBB4-4E3E-9243-F7880426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123950"/>
            <a:ext cx="171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450" b="1">
                <a:solidFill>
                  <a:srgbClr val="86EFAC"/>
                </a:solidFill>
              </a:defRPr>
            </a:pPr>
            <a:r>
              <a:rPr sz="9450" b="1">
                <a:solidFill>
                  <a:srgbClr val="86EFAC"/>
                </a:solidFill>
              </a:rPr>
              <a:t>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D7217-20D7-4E73-9A9B-7CEC2A97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8E8"/>
                </a:solidFill>
              </a:defRPr>
            </a:pPr>
            <a:r>
              <a:rPr sz="1875" b="1">
                <a:solidFill>
                  <a:srgbClr val="FFF8E8"/>
                </a:solidFill>
              </a:rPr>
              <a:t>AtlasPay blocking failures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E8D744-33E1-4C50-BEF2-1A40EF60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Mozilla routes checked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9009F1-08E2-46C1-B863-3D3863C4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099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86EFAC"/>
                </a:solidFill>
              </a:defRPr>
            </a:pPr>
            <a:r>
              <a:rPr sz="2100" b="1">
                <a:solidFill>
                  <a:srgbClr val="86EFAC"/>
                </a:solidFill>
              </a:rPr>
              <a:t>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FA740-F3FC-4E11-8D49-3D507D7A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Mozilla strings extracted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97FDE-BD1F-4084-B988-9DC02004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3860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8E8"/>
                </a:solidFill>
              </a:defRPr>
            </a:pPr>
            <a:r>
              <a:rPr sz="2700" b="1">
                <a:solidFill>
                  <a:srgbClr val="FFF8E8"/>
                </a:solidFill>
              </a:rPr>
              <a:t>778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B95658-6481-490A-BA4F-6CF58B20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Browser console errors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6C57E1-4937-498C-839B-2DC972BF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434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8E8"/>
                </a:solidFill>
              </a:defRPr>
            </a:pPr>
            <a:r>
              <a:rPr sz="2700" b="1">
                <a:solidFill>
                  <a:srgbClr val="FFF8E8"/>
                </a:solidFill>
              </a:rPr>
              <a:t>0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85b12b26404be1"/>
          <a:srcRect xmlns:a="http://schemas.openxmlformats.org/drawingml/2006/main" l="0" t="51" r="0" b="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19700" y="1047750"/>
            <a:ext cx="6267450" cy="3914775"/>
          </a:xfrm>
          <a:prstGeom xmlns:a="http://schemas.openxmlformats.org/drawingml/2006/main" prst="round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8D0987-F9A6-41AF-B009-B83B4F3F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67E396-BD9F-42B3-9AC6-2A92878F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F9047-5D52-4C70-A132-F39C18D4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489379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5F1ECC-33CA-449E-8B72-DF1B2D38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TECHNICAL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661D7A-1548-40F6-AD80-F289455F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Determinism surrounds the agent.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708C7-85BD-4DDD-8A92-F1E93E15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B9AFC8"/>
                </a:solidFill>
              </a:defRPr>
            </a:pPr>
            <a:r>
              <a:rPr sz="1575" b="0">
                <a:solidFill>
                  <a:srgbClr val="B9AFC8"/>
                </a:solidFill>
              </a:rPr>
              <a:t>Input is constrained before evidence becomes a bounded, repeatable release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8DF36-9B12-4C9F-B3FA-73EAE9EF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88E9D-EF49-4A0B-9515-7DC28D50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4F0FA-6DB3-4301-88D7-EC99DF87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BA730-6AF8-441B-90D6-A954D7A1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URL / repo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BCP 47 locales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4E66F-6461-4CAE-A8F6-EF6C7166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1C521-4AF2-4B8A-A515-7D4C6118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C2B1A-8D1D-44C1-883E-67E68D31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D8299-14A7-463A-B40E-20F643D1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DISCOVER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3C368-7656-4CE6-A15F-0D652EA7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crawl + extract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redact secrets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49B16-5121-494E-8BB2-A4516135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8DDA4-C02F-4DC2-8D08-03B0E701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11C1D-BC0F-45E2-A047-8B27C007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5CFBE-C57C-4293-9345-D7E38B2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E35FD-EDB1-4B70-8555-5C785B6D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linguistic + visual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Playwright + axe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00EF8-1337-4C67-A1D7-90C31F5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9941B-9477-4834-BE54-7DC711C5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231339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15E53-3CBE-4EA9-A97A-E2713C68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CDB83F-14A2-4489-AA79-1C6783EE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REPAIR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F23FD-9B1A-4358-A005-B6295F4C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scan + issue IDs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allowlisted diff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0C4DE1-1826-4607-A833-0C813FBB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615D3-56C3-421D-805F-07307901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FB989A-DF38-4E12-84CA-35D07332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9FAD00-FAA5-4012-A239-16BAAF0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VERIFY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0894C4-A8EA-4468-9A85-DBD24D54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identical tests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source regression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B938FD-7117-4EBC-8A1F-9AD5778D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Provider output can explain findings. It never overrides pass/fail.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5904C2-F0D5-4549-8569-BCDA34B6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91CB27-DA7B-4AC4-AF25-79ACC74A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5AA4A7-A49C-4E6A-B3C1-950E2249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481277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8566FD-AD84-41A4-96B4-421A6720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TRUST IS A PRODUCT FEATURE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211C1-A46E-4A75-8A6E-AC9C61C7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Bounded by design.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87c4d90fc4bd9"/>
          <a:srcRect xmlns:a="http://schemas.openxmlformats.org/drawingml/2006/main" l="0" t="3275" r="0" b="32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04850" y="1809750"/>
            <a:ext cx="6553200" cy="38290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80679-4B19-43D8-ACA6-C8576147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24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URL POLICY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56B107-2710-4491-AE4B-78056B34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02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DNS, redirects, limits, private-network blocks.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625C5E-070B-452C-B130-3ED0E185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051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85692D-B361-4A65-9C80-8ADB8E27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38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REPAIR POLICY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C4293-E020-46CF-82C9-6D8C0155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146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Root confinement, symlink rejection, allowlist.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714ABB-C82D-484D-AB4F-6B16871A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619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7C6770-B4B8-4CD0-95AA-A00940DF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752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PROOF POLICY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C53B32-CA8B-49A8-8D4E-66673FDF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290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Identical predicate plus regression checks.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70BC75-B367-408A-81ED-8A63AACA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339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99A0DA-60AF-4E11-B0BA-4D82E874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NO-AI MODE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A5CEB-D4BB-4FF1-8A24-39EF1EA8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9434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No model key for deterministic replay.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7486BE-A0C1-42A1-A9FB-61898291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AE4048-3464-43D1-8FD3-5DF10CF9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06D3B1-97F2-473D-8D70-B03410AD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415368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282B9E-68FB-46F7-9BBC-DE1B67A2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OPEN-SOURCE ADOPTION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5D3B1-76D7-49E3-ADAD-288E06EF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Start useful. Expand without faking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4ADC4-4868-4297-B8D7-43E058D2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9AFC8"/>
                </a:solidFill>
              </a:defRPr>
            </a:pPr>
            <a:r>
              <a:rPr sz="1650" b="0">
                <a:solidFill>
                  <a:srgbClr val="B9AFC8"/>
                </a:solidFill>
              </a:rPr>
              <a:t>Apache-2.0 core, no paid database, no mandatory provider.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9CD83-D136-421B-A6E8-32337D8B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211535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BAA48-26D6-4BF4-8E26-57336B26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D8C1C9-0CCB-4AEE-B72C-7F0F4A4F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Verified MVP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32E02F-2A93-402A-A822-A25E4073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481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Next.js + URL scan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10→0 AtlasPay proof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web · CLI · MCP · CI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2B050-CBF2-417C-B379-59A133EB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719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ACC15"/>
                </a:solidFill>
              </a:defRPr>
            </a:pPr>
            <a:r>
              <a:rPr sz="1875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822700-E57D-400A-9D19-678DEA76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4B062-A4BE-4221-BC78-68174533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766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NEXT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C931A5-2C69-4E12-AC33-8E885496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719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Broader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5BF2E-7FFA-4451-B402-36185DE1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Firefox + WebKit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provider adapters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glossary + memory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4701C-FDA4-45A7-AF09-11FC29AA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386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ACC15"/>
                </a:solidFill>
              </a:defRPr>
            </a:pPr>
            <a:r>
              <a:rPr sz="1875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AA5F26-95C0-4509-BA9F-007A8A6D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480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310F9-3466-446C-B1CA-47D0F8DB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766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LATER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494B0-B9AF-4040-9A5B-172B37A3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719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Enterprise scale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71B80-9126-4431-94D1-A9D6CB53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5148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teams · SSO · remote MCP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isolated workers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policy administration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E6DC1-56BA-46E7-BAD3-8AC4CF9D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7F860B-74C1-46C7-A3AE-82B75344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5C4962-00A3-4291-ACB6-CE2A859D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635235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b0ba073f604a83"/>
          <a:srcRect xmlns:a="http://schemas.openxmlformats.org/drawingml/2006/main" l="6500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9F924-AF62-4EB5-901C-504B8D1B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314B6-AF54-43A5-892D-A4034511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3400"/>
            <a:ext cx="5619750" cy="5715000"/>
          </a:xfrm>
          <a:prstGeom xmlns:a="http://schemas.openxmlformats.org/drawingml/2006/main" prst="roundRect">
            <a:avLst>
              <a:gd name="adj" fmla="val 2712"/>
            </a:avLst>
          </a:prstGeom>
          <a:solidFill xmlns:a="http://schemas.openxmlformats.org/drawingml/2006/main">
            <a:srgbClr val="0B061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88F4C-ACCC-4DF6-9C2F-6531F7D0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953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8E8"/>
                </a:solidFill>
              </a:defRPr>
            </a:pPr>
            <a:r>
              <a:rPr sz="4200" b="1">
                <a:solidFill>
                  <a:srgbClr val="FFF8E8"/>
                </a:solidFill>
              </a:rPr>
              <a:t>BhashaFix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D4A83-9389-4735-9AED-AAFD035C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431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Test every language.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Prove every release.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A0A56-89CD-46E9-A46B-9191212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667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Live now: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bhashafix.vercel.app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1147E-5D2E-416D-9984-6A4E17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EF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D3D44-225F-4CFE-8535-4674E74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6EFAC"/>
                </a:solidFill>
              </a:defRPr>
            </a:pPr>
            <a:r>
              <a:rPr sz="1650" b="1">
                <a:solidFill>
                  <a:srgbClr val="86EFAC"/>
                </a:solidFill>
              </a:rPr>
              <a:t>10 → 0 · EN-GB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B026B-600C-443D-A10D-5A472DE6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102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OPEN SOURCE · APACHE-2.0</a:t>
            </a:r>
          </a:p>
        </p:txBody>
      </p:sp>
    </p:spTree>
    <p:extLst>
      <p:ext uri="{BB962C8B-B14F-4D97-AF65-F5344CB8AC3E}">
        <p14:creationId xmlns:p14="http://schemas.microsoft.com/office/powerpoint/2010/main" val="9661686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2026-07-30T14:25:43.1700000Z</dcterms:created>
  <dcterms:modified xsi:type="dcterms:W3CDTF">2026-07-30T14:25:43.1700000Z</dcterms:modified>
</coreProperties>
</file>