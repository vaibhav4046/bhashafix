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b7db445ae84127" /><Relationship Type="http://schemas.openxmlformats.org/officeDocument/2006/relationships/extended-properties" Target="/docProps/app.xml" Id="R7f6526cb33a846e9" /><Relationship Type="http://schemas.openxmlformats.org/officeDocument/2006/relationships/officeDocument" Target="/ppt/presentation.xml" Id="R791ed8813dc040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95159d3f614a56"/>
  </p:sldMasterIdLst>
  <p:notesMasterIdLst>
    <p:notesMasterId xmlns:r="http://schemas.openxmlformats.org/officeDocument/2006/relationships" r:id="Rd6cc8de7a15c4aff"/>
  </p:notesMasterIdLst>
  <p:sldIdLst>
    <p:sldId xmlns:r="http://schemas.openxmlformats.org/officeDocument/2006/relationships" id="256" r:id="Ra75b3ef9477a4700"/>
    <p:sldId xmlns:r="http://schemas.openxmlformats.org/officeDocument/2006/relationships" id="257" r:id="R8dcc4fcccefc4ebb"/>
    <p:sldId xmlns:r="http://schemas.openxmlformats.org/officeDocument/2006/relationships" id="258" r:id="Rc1eab499baa94801"/>
    <p:sldId xmlns:r="http://schemas.openxmlformats.org/officeDocument/2006/relationships" id="259" r:id="Ra228d850581e4f38"/>
    <p:sldId xmlns:r="http://schemas.openxmlformats.org/officeDocument/2006/relationships" id="260" r:id="Rd963bdee4f154855"/>
    <p:sldId xmlns:r="http://schemas.openxmlformats.org/officeDocument/2006/relationships" id="261" r:id="R8c5de195fd8c4d86"/>
    <p:sldId xmlns:r="http://schemas.openxmlformats.org/officeDocument/2006/relationships" id="262" r:id="Rafd52cbb34ac4ad0"/>
    <p:sldId xmlns:r="http://schemas.openxmlformats.org/officeDocument/2006/relationships" id="263" r:id="Rb74a657b095c4827"/>
    <p:sldId xmlns:r="http://schemas.openxmlformats.org/officeDocument/2006/relationships" id="264" r:id="Rf7e1a8e906304f9f"/>
    <p:sldId xmlns:r="http://schemas.openxmlformats.org/officeDocument/2006/relationships" id="265" r:id="Re83fc4a25b684b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600382898c456b" /><Relationship Type="http://schemas.openxmlformats.org/officeDocument/2006/relationships/slideMaster" Target="/ppt/slideMasters/slideMaster1.xml" Id="Rb895159d3f614a56" /><Relationship Type="http://schemas.openxmlformats.org/officeDocument/2006/relationships/notesMaster" Target="/ppt/notesMasters/notesMaster1.xml" Id="Rd6cc8de7a15c4aff" /><Relationship Type="http://schemas.openxmlformats.org/officeDocument/2006/relationships/presProps" Target="/ppt/presProps.xml" Id="R4f91c43db7024473" /><Relationship Type="http://schemas.openxmlformats.org/officeDocument/2006/relationships/tableStyles" Target="/ppt/tableStyles.xml" Id="R87e9edd07d3b408d" /><Relationship Type="http://schemas.openxmlformats.org/officeDocument/2006/relationships/slide" Target="/ppt/slides/slide1.xml" Id="Ra75b3ef9477a4700" /><Relationship Type="http://schemas.openxmlformats.org/officeDocument/2006/relationships/slide" Target="/ppt/slides/slide2.xml" Id="R8dcc4fcccefc4ebb" /><Relationship Type="http://schemas.openxmlformats.org/officeDocument/2006/relationships/slide" Target="/ppt/slides/slide3.xml" Id="Rc1eab499baa94801" /><Relationship Type="http://schemas.openxmlformats.org/officeDocument/2006/relationships/slide" Target="/ppt/slides/slide4.xml" Id="Ra228d850581e4f38" /><Relationship Type="http://schemas.openxmlformats.org/officeDocument/2006/relationships/slide" Target="/ppt/slides/slide5.xml" Id="Rd963bdee4f154855" /><Relationship Type="http://schemas.openxmlformats.org/officeDocument/2006/relationships/slide" Target="/ppt/slides/slide6.xml" Id="R8c5de195fd8c4d86" /><Relationship Type="http://schemas.openxmlformats.org/officeDocument/2006/relationships/slide" Target="/ppt/slides/slide7.xml" Id="Rafd52cbb34ac4ad0" /><Relationship Type="http://schemas.openxmlformats.org/officeDocument/2006/relationships/slide" Target="/ppt/slides/slide8.xml" Id="Rb74a657b095c4827" /><Relationship Type="http://schemas.openxmlformats.org/officeDocument/2006/relationships/slide" Target="/ppt/slides/slide9.xml" Id="Rf7e1a8e906304f9f" /><Relationship Type="http://schemas.openxmlformats.org/officeDocument/2006/relationships/slide" Target="/ppt/slides/slide10.xml" Id="Re83fc4a25b684b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d377b355e642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2bb0eb3dc449d4" /><Relationship Type="http://schemas.openxmlformats.org/officeDocument/2006/relationships/notesMaster" Target="/ppt/notesMasters/notesMaster1.xml" Id="Rd172a3a557e14a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5aa02d6f1c4a03" /><Relationship Type="http://schemas.openxmlformats.org/officeDocument/2006/relationships/notesMaster" Target="/ppt/notesMasters/notesMaster1.xml" Id="R5d70092dfa7444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4b721037ff4d31" /><Relationship Type="http://schemas.openxmlformats.org/officeDocument/2006/relationships/notesMaster" Target="/ppt/notesMasters/notesMaster1.xml" Id="Rb61afe9e60614f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9aee7a7b414b85" /><Relationship Type="http://schemas.openxmlformats.org/officeDocument/2006/relationships/notesMaster" Target="/ppt/notesMasters/notesMaster1.xml" Id="R3a17186989014a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9c83d3ccfc4d86" /><Relationship Type="http://schemas.openxmlformats.org/officeDocument/2006/relationships/notesMaster" Target="/ppt/notesMasters/notesMaster1.xml" Id="R0e314255e16a42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95f858a93a4b03" /><Relationship Type="http://schemas.openxmlformats.org/officeDocument/2006/relationships/notesMaster" Target="/ppt/notesMasters/notesMaster1.xml" Id="R491ddb5010934c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bf29b5263b40f2" /><Relationship Type="http://schemas.openxmlformats.org/officeDocument/2006/relationships/notesMaster" Target="/ppt/notesMasters/notesMaster1.xml" Id="Re1fcdef45f7e4e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2023cd50d840f8" /><Relationship Type="http://schemas.openxmlformats.org/officeDocument/2006/relationships/notesMaster" Target="/ppt/notesMasters/notesMaster1.xml" Id="R99a4ab1afdfc47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c01dd829814bbf" /><Relationship Type="http://schemas.openxmlformats.org/officeDocument/2006/relationships/notesMaster" Target="/ppt/notesMasters/notesMaster1.xml" Id="R469f6d60f4d34f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ba35cc35f44377" /><Relationship Type="http://schemas.openxmlformats.org/officeDocument/2006/relationships/notesMaster" Target="/ppt/notesMasters/notesMaster1.xml" Id="R0093ae92ed2144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submission/screenshots/03-landing-mobile.png.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submission/screenshots/07-issue-evidence.png.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Official MCP Inspector and MCPC receipts: artifacts/mcp-inspector-receipt.json and artifacts/mcpc-smoke/receipt.json.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AtlasPay release proof, generated 30 July 2026.</a:t>
            </a:r>
          </a:p>
          <a:p xmlns:a="http://schemas.openxmlformats.org/drawingml/2006/main">
            <a:r>
              <a:t>- Actual local Playwright/browser proof: submission/screenshots/05-proof-report.png.</a:t>
            </a:r>
          </a:p>
          <a:p xmlns:a="http://schemas.openxmlformats.org/drawingml/2006/main">
            <a:r>
              <a:t>- Live public target scanned on 30 July 2026: https://www.mozilla.org/.</a:t>
            </a:r>
          </a:p>
          <a:p xmlns:a="http://schemas.openxmlformats.org/drawingml/2006/main">
            <a:r>
              <a:t>- Live BhashaFix scan screenshot: submission/screenshots/10-live-public-product-proof.png.</a:t>
            </a:r>
          </a:p>
          <a:p xmlns:a="http://schemas.openxmlformats.org/drawingml/2006/main">
            <a:r>
              <a:t>- Live scan receipt: artifacts/live-public-scan-receipt.json.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submission/screenshots/06-bounded-repair.png.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b74effde944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2e7d6613204896" /><Relationship Type="http://schemas.openxmlformats.org/officeDocument/2006/relationships/slideLayout" Target="/ppt/slideLayouts/slideLayout1.xml" Id="R9906132b5c6544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06132b5c6544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6796b183f84517" /><Relationship Type="http://schemas.openxmlformats.org/officeDocument/2006/relationships/image" Target="/ppt/media/image.png" Id="R0bb77b4e910b437b" /><Relationship Type="http://schemas.openxmlformats.org/officeDocument/2006/relationships/notesSlide" Target="/ppt/notesSlides/notesSlide1.xml" Id="Rffdaccf6da8545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6ed600c104dd1" /><Relationship Type="http://schemas.openxmlformats.org/officeDocument/2006/relationships/image" Target="/ppt/media/image2.png" Id="R72a69dfa2eab42ab" /><Relationship Type="http://schemas.openxmlformats.org/officeDocument/2006/relationships/notesSlide" Target="/ppt/notesSlides/notesSlide2.xml" Id="R0cb37da92d6c48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3c3f733cb4ce9" /><Relationship Type="http://schemas.openxmlformats.org/officeDocument/2006/relationships/notesSlide" Target="/ppt/notesSlides/notesSlide3.xml" Id="R42d8591315f14d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8a9031b9e4c9c" /><Relationship Type="http://schemas.openxmlformats.org/officeDocument/2006/relationships/image" Target="/ppt/media/image.jpeg" Id="R8f934fbbea3e4345" /><Relationship Type="http://schemas.openxmlformats.org/officeDocument/2006/relationships/notesSlide" Target="/ppt/notesSlides/notesSlide4.xml" Id="Rccf5418620cb4f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d295d880046e1" /><Relationship Type="http://schemas.openxmlformats.org/officeDocument/2006/relationships/notesSlide" Target="/ppt/notesSlides/notesSlide5.xml" Id="Rc8dfd0bb704c48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f97dda61b24d66" /><Relationship Type="http://schemas.openxmlformats.org/officeDocument/2006/relationships/image" Target="/ppt/media/image3.png" Id="R5c738a9e02c546f3" /><Relationship Type="http://schemas.openxmlformats.org/officeDocument/2006/relationships/notesSlide" Target="/ppt/notesSlides/notesSlide6.xml" Id="Rf6da3aa960b745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02c9ab2274ffb" /><Relationship Type="http://schemas.openxmlformats.org/officeDocument/2006/relationships/notesSlide" Target="/ppt/notesSlides/notesSlide7.xml" Id="R73da8120cd6249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b38ce52457469a" /><Relationship Type="http://schemas.openxmlformats.org/officeDocument/2006/relationships/image" Target="/ppt/media/image2.jpeg" Id="Rc1738b4375ed4339" /><Relationship Type="http://schemas.openxmlformats.org/officeDocument/2006/relationships/notesSlide" Target="/ppt/notesSlides/notesSlide8.xml" Id="R149fc2badeef49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bb1fab24f4308" /><Relationship Type="http://schemas.openxmlformats.org/officeDocument/2006/relationships/notesSlide" Target="/ppt/notesSlides/notesSlide9.xml" Id="Rcb8388bfe69b48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e6985f0e245e5" /><Relationship Type="http://schemas.openxmlformats.org/officeDocument/2006/relationships/image" Target="/ppt/media/image.png" Id="R75659b9cd7cd4baa" /><Relationship Type="http://schemas.openxmlformats.org/officeDocument/2006/relationships/notesSlide" Target="/ppt/notesSlides/notesSlide10.xml" Id="Rac05134f38b140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77b4e910b437b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viewport.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Evidence before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release.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0DA23-3208-4EC3-910B-0836FD23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GLOBAL FAILURES ARE ENGINEERING FAILURES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87AE-E088-4C25-8EBE-B5699D5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19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Translation passed.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Release still failed.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A2C65-9754-434D-82FC-E021361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Ten reproducible defects across scripts, routes and viewports.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1C819-28E4-44F8-93EF-3351916D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7BC79-29BD-4E27-ACFD-4448426D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Visual 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A333B-78E0-42DD-8264-4E103017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99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Glyphs clip; expanded controls overflow.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DB0F3-9675-4BBF-94D7-3CA16F1A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42A4-1E6E-49C8-A5B4-0C21737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Locale semantics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E3D24-EB8F-4694-81B7-A4DC0F83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529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RTL, icon order and page language fail.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0AA81-75C6-402E-8FAE-1E2DCCC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2BDD3-218D-4F38-ADC9-BFC4DF45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00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Content 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F506B-7A1E-43B9-9925-1196DB6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95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Keys, fonts, wrapping, tokens and terms fail.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613A5-242B-4F69-B324-81376154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"/>
            <a:ext cx="4057650" cy="5772150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69dfa2eab42ab"/>
          <a:srcRect xmlns:a="http://schemas.openxmlformats.org/drawingml/2006/main" l="0" t="10366" r="0" b="103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734300" y="666750"/>
            <a:ext cx="3067050" cy="5257800"/>
          </a:xfrm>
          <a:prstGeom xmlns:a="http://schemas.openxmlformats.org/drawingml/2006/main" prst="round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B3821-E4F6-4881-87D1-4154C923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BFED-70B4-48CC-A774-70D759D3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DB5CD-D72B-42DB-84AF-0A7233C5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6261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37DDC-1575-4714-A5DB-F4B61F9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IS NOT THE 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C784E-7318-483B-9CE3-59A86BE0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Strings are only the input.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3636D-D823-4517-8786-A97E1BE7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9AFC8"/>
                </a:solidFill>
              </a:defRPr>
            </a:pPr>
            <a:r>
              <a:rPr sz="1800" b="0">
                <a:solidFill>
                  <a:srgbClr val="B9AFC8"/>
                </a:solidFill>
              </a:rPr>
              <a:t>The missing layer is the rendered, accessible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78DBF-998D-4458-B871-13E4A988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03F90-2E23-4234-A6C5-0259F872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DFD79-6B6B-41D3-A649-BDEF11C5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304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BHASHAFIX HARNESS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E33AA-E84C-4CBE-AAFD-3C5C52A7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00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Translate strings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Manage keys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Choose wording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E53D0-1D4B-4EA0-A171-50849815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528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ACC15"/>
                </a:solidFill>
              </a:defRPr>
            </a:pPr>
            <a:r>
              <a:rPr sz="28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B383A-3810-42F4-8A1A-AFE1DF51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4381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Render + stress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Measure evidence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Repair safely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Prove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FB96F-1712-45CC-9BAC-77137B8E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9592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6EFAC"/>
                </a:solidFill>
              </a:defRPr>
            </a:pPr>
            <a:r>
              <a:rPr sz="1350" b="1">
                <a:solidFill>
                  <a:srgbClr val="86EFAC"/>
                </a:solidFill>
              </a:rPr>
              <a:t>Models can recommend. Only deterministic predicates can accept.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7BC94-7CC9-4DB3-9EB4-C74320A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55FCF-7000-44F6-974A-D2C13889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FF9EE-B8FD-4AE2-B8D8-60A12F58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816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D0AE7-540A-4209-84F9-D870E60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86254-9F8E-43D9-9193-7C54B410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Eleven stages. One proof loop.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34fbbea3e4345"/>
          <a:srcRect xmlns:a="http://schemas.openxmlformats.org/drawingml/2006/main" l="0" t="6924" r="0" b="6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591050" y="1676400"/>
            <a:ext cx="6896100" cy="37147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AAB12-E6EC-4C88-991A-866461CF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3859C-6413-4B0C-93B1-8E3FF57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2F585-C0AD-418E-92EB-AD7CC41D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02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E1000-BE7B-45D1-805D-5709EE42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93B77-AEFD-480F-ADB5-9A10172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84604-CD63-4CA0-8A42-839CB27B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0D0A1-AAEF-4F35-94D4-E22B56C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DCD79-0EE8-4D92-B2AC-992EB6EC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FA617-926F-4CD2-B045-CE69A0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Diagnose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70BEBC-D5D2-4800-97F7-58B5B69B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F01A81-D4A6-4796-9013-C5E8629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89BF1-642F-44EE-80F1-FB8F5F04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861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162F2-4A3C-4DC4-AE19-27837F0C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86D3E-193F-4DBD-A13B-9928689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25F48-040D-44E1-ABA2-5E2206B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14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3332C-57BB-425B-8CD2-6E629A68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FACC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B3815-5466-4BC1-BBF2-2A4E55D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0613"/>
                </a:solidFill>
              </a:defRPr>
            </a:pPr>
            <a:r>
              <a:rPr sz="975" b="1">
                <a:solidFill>
                  <a:srgbClr val="0B0613"/>
                </a:solidFill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5AFC2-0F68-4EA6-A71D-514CDF4A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3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E32B2-3491-457B-B25F-48DC662A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Every issue keeps route, locale, viewport, browser, selector, measurement and predicate.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66F09-E1B5-496F-96F3-0A0CAEB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95787F-C8B8-4BB0-BB15-9E488C8A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60A6E-8802-4684-9487-F8615C0E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9571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ONE ENGINE · FOUR SURFACES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The same truth everywhere.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Shared TypeScript core. Strict schemas. One repair and verification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WEB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visual review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proof downloads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stable exits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JSON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18 tools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Inspector + MCPC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severity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artifacts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CORE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locale engines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repair + 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General agents call BhashaFix instead of guessing whether localisation is complete.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99D63-21B6-419B-8667-7DCCE3B4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TWO REAL PROOF MODES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FFCB-9851-41EA-9BF6-ACB483D1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FB7185"/>
                </a:solidFill>
              </a:defRPr>
            </a:pPr>
            <a:r>
              <a:rPr sz="9450" b="1">
                <a:solidFill>
                  <a:srgbClr val="FB7185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40A6F-D013-448C-B8AE-FEBBC3F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ACC15"/>
                </a:solidFill>
              </a:defRPr>
            </a:pPr>
            <a:r>
              <a:rPr sz="46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7FF0B-BBB4-4E3E-9243-F7880426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86EFAC"/>
                </a:solidFill>
              </a:defRPr>
            </a:pPr>
            <a:r>
              <a:rPr sz="9450" b="1">
                <a:solidFill>
                  <a:srgbClr val="86EFAC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D7217-20D7-4E73-9A9B-7CEC2A97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8"/>
                </a:solidFill>
              </a:defRPr>
            </a:pPr>
            <a:r>
              <a:rPr sz="1875" b="1">
                <a:solidFill>
                  <a:srgbClr val="FFF8E8"/>
                </a:solidFill>
              </a:rPr>
              <a:t>AtlasPay blocking failures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8D744-33E1-4C50-BEF2-1A40EF6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Mozilla routes checked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009F1-08E2-46C1-B863-3D3863C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86EFAC"/>
                </a:solidFill>
              </a:defRPr>
            </a:pPr>
            <a:r>
              <a:rPr sz="2100" b="1">
                <a:solidFill>
                  <a:srgbClr val="86EFAC"/>
                </a:solidFill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FA740-F3FC-4E11-8D49-3D507D7A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Mozilla strings extracted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97FDE-BD1F-4084-B988-9DC0200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386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778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95658-6481-490A-BA4F-6CF58B20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Browser console 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C57E1-4937-498C-839B-2DC972B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43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0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38a9e02c546f3"/>
          <a:srcRect xmlns:a="http://schemas.openxmlformats.org/drawingml/2006/main" l="0" t="51" r="0" b="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19700" y="1047750"/>
            <a:ext cx="6267450" cy="3914775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D0987-F9A6-41AF-B009-B83B4F3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7E396-BD9F-42B3-9AC6-2A92878F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F9047-5D52-4C70-A132-F39C18D4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89379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Determinism surrounds the agent.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Input is constrained before evidence becomes a bounded, repeatable release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URL / repo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BCP 47 locales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crawl + extract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redact secrets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linguistic + visual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Playwright + axe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scan + issue IDs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allowlisted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identical tests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source regression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Provider output can explain findings. It never overrides pass/fail.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566FD-AD84-41A4-96B4-421A6720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TRUST IS A PRODUCT FEATURE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211C1-A46E-4A75-8A6E-AC9C61C7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Bounded by design.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38b4375ed4339"/>
          <a:srcRect xmlns:a="http://schemas.openxmlformats.org/drawingml/2006/main" l="0" t="3275" r="0" b="3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04850" y="1809750"/>
            <a:ext cx="6553200" cy="3829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80679-4B19-43D8-ACA6-C85761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URL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6B107-2710-4491-AE4B-78056B34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02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DNS, redirects, limits, private-network blocks.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25C5E-070B-452C-B130-3ED0E185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051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692D-B361-4A65-9C80-8ADB8E2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REPAIR 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C4293-E020-46CF-82C9-6D8C0155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14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Root confinement, symlink rejection, allowlist.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14ABB-C82D-484D-AB4F-6B16871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C6770-B4B8-4CD0-95AA-A00940DF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52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PROOF POLICY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53B32-CA8B-49A8-8D4E-66673FD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290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Identical predicate plus regression checks.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0BC75-B367-408A-81ED-8A63AACA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339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9A0DA-60AF-4E11-B0BA-4D82E87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NO-AI 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5CEB-D4BB-4FF1-8A24-39EF1EA8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434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No model key for deterministic replay.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486BE-A0C1-42A1-A9FB-61898291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E4048-3464-43D1-8FD3-5DF10CF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6D3B1-97F2-473D-8D70-B03410A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1536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2B9E-68FB-46F7-9BBC-DE1B67A2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OPEN-SOURCE ADOPTION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5D3B1-76D7-49E3-ADAD-288E06E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Start useful. Expand without faking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4ADC4-4868-4297-B8D7-43E058D2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Apache-2.0 core, no paid database, no mandatory provider.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9CD83-D136-421B-A6E8-32337D8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211535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BAA48-26D6-4BF4-8E26-57336B2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8C1C9-0CCB-4AEE-B72C-7F0F4A4F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Verified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2E02F-2A93-402A-A822-A25E4073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Next.js + URL scan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10→0 AtlasPay proof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web · CLI · MCP · CI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2B050-CBF2-417C-B379-59A133EB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719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2700-E57D-400A-9D19-678DEA76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4B062-A4BE-4221-BC78-68174533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931A5-2C69-4E12-AC33-8E88549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Broader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5BF2E-7FFA-4451-B402-36185DE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Firefox + WebKit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provider adapters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glossary +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4701C-FDA4-45A7-AF09-11FC29AA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A5F26-95C0-4509-BA9F-007A8A6D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310F9-3466-446C-B1CA-47D0F8DB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LATER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494B0-B9AF-4040-9A5B-172B37A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Enterprise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71B80-9126-4431-94D1-A9D6CB5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teams · SSO · remote MCP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isolated workers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policy administration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E6DC1-56BA-46E7-BAD3-8AC4CF9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F860B-74C1-46C7-A3AE-82B75344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C4962-00A3-4291-ACB6-CE2A859D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635235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59b9cd7cd4baa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Test 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Prove every release.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Live now: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bhashafix.vercel.app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2026-07-30T12:11:39.7850000Z</dcterms:created>
  <dcterms:modified xsi:type="dcterms:W3CDTF">2026-07-30T12:11:39.7850000Z</dcterms:modified>
</coreProperties>
</file>