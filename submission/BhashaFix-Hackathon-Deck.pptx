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b58a1874bcf4d4a" /><Relationship Type="http://schemas.openxmlformats.org/officeDocument/2006/relationships/extended-properties" Target="/docProps/app.xml" Id="Rb8b8d9239df34604" /><Relationship Type="http://schemas.openxmlformats.org/officeDocument/2006/relationships/officeDocument" Target="/ppt/presentation.xml" Id="R4ff3bdd8aed945e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46fe9d8e021448b"/>
  </p:sldMasterIdLst>
  <p:notesMasterIdLst>
    <p:notesMasterId xmlns:r="http://schemas.openxmlformats.org/officeDocument/2006/relationships" r:id="Rb7cc68c1b6924d95"/>
  </p:notesMasterIdLst>
  <p:sldIdLst>
    <p:sldId xmlns:r="http://schemas.openxmlformats.org/officeDocument/2006/relationships" id="256" r:id="Rd6e2f048e2dc4be4"/>
    <p:sldId xmlns:r="http://schemas.openxmlformats.org/officeDocument/2006/relationships" id="257" r:id="R33ef762665a64032"/>
    <p:sldId xmlns:r="http://schemas.openxmlformats.org/officeDocument/2006/relationships" id="258" r:id="R24e83c6e91414a91"/>
    <p:sldId xmlns:r="http://schemas.openxmlformats.org/officeDocument/2006/relationships" id="259" r:id="R494e29811dd547ed"/>
    <p:sldId xmlns:r="http://schemas.openxmlformats.org/officeDocument/2006/relationships" id="260" r:id="R2529324b5f324e6b"/>
    <p:sldId xmlns:r="http://schemas.openxmlformats.org/officeDocument/2006/relationships" id="261" r:id="R265044cc7a174a93"/>
    <p:sldId xmlns:r="http://schemas.openxmlformats.org/officeDocument/2006/relationships" id="262" r:id="R1423e1bf18694b3a"/>
    <p:sldId xmlns:r="http://schemas.openxmlformats.org/officeDocument/2006/relationships" id="263" r:id="R9c70680939d34684"/>
    <p:sldId xmlns:r="http://schemas.openxmlformats.org/officeDocument/2006/relationships" id="264" r:id="R627592aca4f64b30"/>
    <p:sldId xmlns:r="http://schemas.openxmlformats.org/officeDocument/2006/relationships" id="265" r:id="R929b09dae39949f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35575cc78f24db2" /><Relationship Type="http://schemas.openxmlformats.org/officeDocument/2006/relationships/slideMaster" Target="/ppt/slideMasters/slideMaster1.xml" Id="Rd46fe9d8e021448b" /><Relationship Type="http://schemas.openxmlformats.org/officeDocument/2006/relationships/notesMaster" Target="/ppt/notesMasters/notesMaster1.xml" Id="Rb7cc68c1b6924d95" /><Relationship Type="http://schemas.openxmlformats.org/officeDocument/2006/relationships/presProps" Target="/ppt/presProps.xml" Id="R83318594eeb94b5a" /><Relationship Type="http://schemas.openxmlformats.org/officeDocument/2006/relationships/tableStyles" Target="/ppt/tableStyles.xml" Id="R4e1d128823904a26" /><Relationship Type="http://schemas.openxmlformats.org/officeDocument/2006/relationships/slide" Target="/ppt/slides/slide1.xml" Id="Rd6e2f048e2dc4be4" /><Relationship Type="http://schemas.openxmlformats.org/officeDocument/2006/relationships/slide" Target="/ppt/slides/slide2.xml" Id="R33ef762665a64032" /><Relationship Type="http://schemas.openxmlformats.org/officeDocument/2006/relationships/slide" Target="/ppt/slides/slide3.xml" Id="R24e83c6e91414a91" /><Relationship Type="http://schemas.openxmlformats.org/officeDocument/2006/relationships/slide" Target="/ppt/slides/slide4.xml" Id="R494e29811dd547ed" /><Relationship Type="http://schemas.openxmlformats.org/officeDocument/2006/relationships/slide" Target="/ppt/slides/slide5.xml" Id="R2529324b5f324e6b" /><Relationship Type="http://schemas.openxmlformats.org/officeDocument/2006/relationships/slide" Target="/ppt/slides/slide6.xml" Id="R265044cc7a174a93" /><Relationship Type="http://schemas.openxmlformats.org/officeDocument/2006/relationships/slide" Target="/ppt/slides/slide7.xml" Id="R1423e1bf18694b3a" /><Relationship Type="http://schemas.openxmlformats.org/officeDocument/2006/relationships/slide" Target="/ppt/slides/slide8.xml" Id="R9c70680939d34684" /><Relationship Type="http://schemas.openxmlformats.org/officeDocument/2006/relationships/slide" Target="/ppt/slides/slide9.xml" Id="R627592aca4f64b30" /><Relationship Type="http://schemas.openxmlformats.org/officeDocument/2006/relationships/slide" Target="/ppt/slides/slide10.xml" Id="R929b09dae39949f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b4284deee9948a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a96edd3d5b341ea" /><Relationship Type="http://schemas.openxmlformats.org/officeDocument/2006/relationships/notesMaster" Target="/ppt/notesMasters/notesMaster1.xml" Id="R903ec93bbcd14ca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d916e135b1944dd" /><Relationship Type="http://schemas.openxmlformats.org/officeDocument/2006/relationships/notesMaster" Target="/ppt/notesMasters/notesMaster1.xml" Id="R97707bb76dcc47c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aeed181a69d424d" /><Relationship Type="http://schemas.openxmlformats.org/officeDocument/2006/relationships/notesMaster" Target="/ppt/notesMasters/notesMaster1.xml" Id="R7329f5145f37426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1ade59a77a94c70" /><Relationship Type="http://schemas.openxmlformats.org/officeDocument/2006/relationships/notesMaster" Target="/ppt/notesMasters/notesMaster1.xml" Id="Rce8b406c3ec942d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c976768b4564867" /><Relationship Type="http://schemas.openxmlformats.org/officeDocument/2006/relationships/notesMaster" Target="/ppt/notesMasters/notesMaster1.xml" Id="R5d10b49a711946a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28a8a04e2d642c8" /><Relationship Type="http://schemas.openxmlformats.org/officeDocument/2006/relationships/notesMaster" Target="/ppt/notesMasters/notesMaster1.xml" Id="Rdce5074e638f413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90863126ae24c88" /><Relationship Type="http://schemas.openxmlformats.org/officeDocument/2006/relationships/notesMaster" Target="/ppt/notesMasters/notesMaster1.xml" Id="Rdddda6b80e7d465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a274ded4ee04eb5" /><Relationship Type="http://schemas.openxmlformats.org/officeDocument/2006/relationships/notesMaster" Target="/ppt/notesMasters/notesMaster1.xml" Id="Rde80dadb3fa64af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cf20d2f2f0d4934" /><Relationship Type="http://schemas.openxmlformats.org/officeDocument/2006/relationships/notesMaster" Target="/ppt/notesMasters/notesMaster1.xml" Id="Ra3edb2069d674d4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380e6b5742042b2" /><Relationship Type="http://schemas.openxmlformats.org/officeDocument/2006/relationships/notesMaster" Target="/ppt/notesMasters/notesMaster1.xml" Id="R64cb8ad1411a48c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BhashaFix deterministic engine and repair proof, generated 29 July 2026.</a:t>
            </a:r>
          </a:p>
          <a:p xmlns:a="http://schemas.openxmlformats.org/drawingml/2006/main">
            <a:r>
              <a:t>- Actual local Playwright/browser screenshot: submission/screenshots/04-scan-workspace.png.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BhashaFix deterministic engine and repair proof, generated 29 July 2026.</a:t>
            </a:r>
          </a:p>
          <a:p xmlns:a="http://schemas.openxmlformats.org/drawingml/2006/main">
            <a:r>
              <a:t>- Actual local Playwright/browser screenshot: submission/screenshots/03-landing-mobile.png.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BhashaFix deterministic engine and repair proof, generated 29 July 2026.</a:t>
            </a:r>
          </a:p>
          <a:p xmlns:a="http://schemas.openxmlformats.org/drawingml/2006/main">
            <a:r>
              <a:t>- Product claims are implemented and tested in the local BhashaFix repository.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BhashaFix deterministic engine and repair proof, generated 29 July 2026.</a:t>
            </a:r>
          </a:p>
          <a:p xmlns:a="http://schemas.openxmlformats.org/drawingml/2006/main">
            <a:r>
              <a:t>- Actual local Playwright/browser screenshot: submission/screenshots/07-issue-evidence.png.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BhashaFix deterministic engine and repair proof, generated 29 July 2026.</a:t>
            </a:r>
          </a:p>
          <a:p xmlns:a="http://schemas.openxmlformats.org/drawingml/2006/main">
            <a:r>
              <a:t>- Product claims are implemented and tested in the local BhashaFix repository.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BhashaFix deterministic engine and repair proof, generated 29 July 2026.</a:t>
            </a:r>
          </a:p>
          <a:p xmlns:a="http://schemas.openxmlformats.org/drawingml/2006/main">
            <a:r>
              <a:t>- Actual local Playwright/browser screenshot: submission/screenshots/05-proof-report.png.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BhashaFix deterministic engine and repair proof, generated 29 July 2026.</a:t>
            </a:r>
          </a:p>
          <a:p xmlns:a="http://schemas.openxmlformats.org/drawingml/2006/main">
            <a:r>
              <a:t>- Product claims are implemented and tested in the local BhashaFix repository.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BhashaFix deterministic engine and repair proof, generated 29 July 2026.</a:t>
            </a:r>
          </a:p>
          <a:p xmlns:a="http://schemas.openxmlformats.org/drawingml/2006/main">
            <a:r>
              <a:t>- Actual local Playwright/browser screenshot: submission/screenshots/06-bounded-repair.png.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BhashaFix deterministic engine and repair proof, generated 29 July 2026.</a:t>
            </a:r>
          </a:p>
          <a:p xmlns:a="http://schemas.openxmlformats.org/drawingml/2006/main">
            <a:r>
              <a:t>- Product claims are implemented and tested in the local BhashaFix repository.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BhashaFix deterministic engine and repair proof, generated 29 July 2026.</a:t>
            </a:r>
          </a:p>
          <a:p xmlns:a="http://schemas.openxmlformats.org/drawingml/2006/main">
            <a:r>
              <a:t>- Actual local Playwright/browser screenshot: submission/screenshots/04-scan-workspace.png.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fa7b2b5a7e345e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c322b8ea3d5427b" /><Relationship Type="http://schemas.openxmlformats.org/officeDocument/2006/relationships/slideLayout" Target="/ppt/slideLayouts/slideLayout1.xml" Id="R503552a7a8b84e1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03552a7a8b84e1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b2dde1b38841df" /><Relationship Type="http://schemas.openxmlformats.org/officeDocument/2006/relationships/image" Target="/ppt/media/image.png" Id="R98832e9131f346a1" /><Relationship Type="http://schemas.openxmlformats.org/officeDocument/2006/relationships/notesSlide" Target="/ppt/notesSlides/notesSlide1.xml" Id="Rd3f648d95c7048e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ddc2a96b3c4629" /><Relationship Type="http://schemas.openxmlformats.org/officeDocument/2006/relationships/image" Target="/ppt/media/image2.png" Id="R83ea43ae5a9a4f21" /><Relationship Type="http://schemas.openxmlformats.org/officeDocument/2006/relationships/notesSlide" Target="/ppt/notesSlides/notesSlide2.xml" Id="R2ae359b60e2546b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b3cf1d260342da" /><Relationship Type="http://schemas.openxmlformats.org/officeDocument/2006/relationships/notesSlide" Target="/ppt/notesSlides/notesSlide3.xml" Id="R62f9db199d3e43f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debe8012264d19" /><Relationship Type="http://schemas.openxmlformats.org/officeDocument/2006/relationships/image" Target="/ppt/media/image.jpeg" Id="R9d876485c2db4486" /><Relationship Type="http://schemas.openxmlformats.org/officeDocument/2006/relationships/notesSlide" Target="/ppt/notesSlides/notesSlide4.xml" Id="R63a9e942c7f2463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c41810448c4720" /><Relationship Type="http://schemas.openxmlformats.org/officeDocument/2006/relationships/notesSlide" Target="/ppt/notesSlides/notesSlide5.xml" Id="R354ed663e6a34c5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58102e23c0417d" /><Relationship Type="http://schemas.openxmlformats.org/officeDocument/2006/relationships/image" Target="/ppt/media/image3.png" Id="R29281b1a0ec044a1" /><Relationship Type="http://schemas.openxmlformats.org/officeDocument/2006/relationships/notesSlide" Target="/ppt/notesSlides/notesSlide6.xml" Id="R6d89f8d7694648e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eaabbb1ea14ca5" /><Relationship Type="http://schemas.openxmlformats.org/officeDocument/2006/relationships/notesSlide" Target="/ppt/notesSlides/notesSlide7.xml" Id="Rb59e2a9d82e94dd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d73137849b48bb" /><Relationship Type="http://schemas.openxmlformats.org/officeDocument/2006/relationships/image" Target="/ppt/media/image2.jpeg" Id="Rd6b5830682e64ec8" /><Relationship Type="http://schemas.openxmlformats.org/officeDocument/2006/relationships/notesSlide" Target="/ppt/notesSlides/notesSlide8.xml" Id="R0c97b11a7dc44e5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128ea108aa4df3" /><Relationship Type="http://schemas.openxmlformats.org/officeDocument/2006/relationships/notesSlide" Target="/ppt/notesSlides/notesSlide9.xml" Id="R6d1a7f03756c420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baad6d5fb24414" /><Relationship Type="http://schemas.openxmlformats.org/officeDocument/2006/relationships/image" Target="/ppt/media/image.png" Id="Ra02b16ca829440a6" /><Relationship Type="http://schemas.openxmlformats.org/officeDocument/2006/relationships/notesSlide" Target="/ppt/notesSlides/notesSlide10.xml" Id="R0c16a485c0fa48a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061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832e9131f346a1"/>
          <a:srcRect xmlns:a="http://schemas.openxmlformats.org/drawingml/2006/main" l="6500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F9F924-AF62-4EB5-901C-504B8D1B0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4314B6-AF54-43A5-892D-A4034511D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33400"/>
            <a:ext cx="5619750" cy="5715000"/>
          </a:xfrm>
          <a:prstGeom xmlns:a="http://schemas.openxmlformats.org/drawingml/2006/main" prst="roundRect">
            <a:avLst>
              <a:gd name="adj" fmla="val 2712"/>
            </a:avLst>
          </a:prstGeom>
          <a:solidFill xmlns:a="http://schemas.openxmlformats.org/drawingml/2006/main">
            <a:srgbClr val="0B0613"/>
          </a:solidFill>
          <a:ln xmlns:a="http://schemas.openxmlformats.org/drawingml/2006/main" w="9525">
            <a:solidFill>
              <a:srgbClr val="38294B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688F4C-ACCC-4DF6-9C2F-6531F7D0C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895350"/>
            <a:ext cx="4095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200" b="1">
                <a:solidFill>
                  <a:srgbClr val="FFF8E8"/>
                </a:solidFill>
              </a:defRPr>
            </a:pPr>
            <a:r>
              <a:rPr sz="4200" b="1">
                <a:solidFill>
                  <a:srgbClr val="FFF8E8"/>
                </a:solidFill>
              </a:rPr>
              <a:t>BhashaFix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8D4A83-9389-4735-9AED-AAFD035C8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43100"/>
            <a:ext cx="44767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FFF8E8"/>
                </a:solidFill>
              </a:defRPr>
            </a:pPr>
            <a:r>
              <a:rPr sz="3450" b="1">
                <a:solidFill>
                  <a:srgbClr val="FFF8E8"/>
                </a:solidFill>
              </a:rPr>
              <a:t>Every language.</a:t>
            </a:r>
          </a:p>
          <a:p xmlns:a="http://schemas.openxmlformats.org/drawingml/2006/main">
            <a:pPr algn="l">
              <a:buNone/>
              <a:defRPr sz="3450" b="1">
                <a:solidFill>
                  <a:srgbClr val="FFF8E8"/>
                </a:solidFill>
              </a:defRPr>
            </a:pPr>
            <a:r>
              <a:rPr sz="3450" b="1">
                <a:solidFill>
                  <a:srgbClr val="FFF8E8"/>
                </a:solidFill>
              </a:rPr>
              <a:t>Every viewport.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6A0A56-89CD-46E9-A46B-9191212D3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52800"/>
            <a:ext cx="4667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FACC15"/>
                </a:solidFill>
              </a:defRPr>
            </a:pPr>
            <a:r>
              <a:rPr sz="2325" b="1">
                <a:solidFill>
                  <a:srgbClr val="FACC15"/>
                </a:solidFill>
              </a:rPr>
              <a:t>Evidence before</a:t>
            </a:r>
          </a:p>
          <a:p xmlns:a="http://schemas.openxmlformats.org/drawingml/2006/main">
            <a:pPr algn="l">
              <a:buNone/>
              <a:defRPr sz="2325" b="1">
                <a:solidFill>
                  <a:srgbClr val="FACC15"/>
                </a:solidFill>
              </a:defRPr>
            </a:pPr>
            <a:r>
              <a:rPr sz="2325" b="1">
                <a:solidFill>
                  <a:srgbClr val="FACC15"/>
                </a:solidFill>
              </a:rPr>
              <a:t>release.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71147E-5D2E-416D-9984-6A4E1782D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810125"/>
            <a:ext cx="2857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6EFA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AD3D44-225F-4CFE-8535-4674E743C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067300"/>
            <a:ext cx="3810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86EFAC"/>
                </a:solidFill>
              </a:defRPr>
            </a:pPr>
            <a:r>
              <a:rPr sz="1650" b="1">
                <a:solidFill>
                  <a:srgbClr val="86EFAC"/>
                </a:solidFill>
              </a:rPr>
              <a:t>10 → 0 · EN-GB PASS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0B026B-600C-443D-A10D-5A472DE61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810250"/>
            <a:ext cx="333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8B4FE"/>
                </a:solidFill>
              </a:defRPr>
            </a:pPr>
            <a:r>
              <a:rPr sz="975" b="1">
                <a:solidFill>
                  <a:srgbClr val="D8B4FE"/>
                </a:solidFill>
              </a:rPr>
              <a:t>OPEN SOURCE · APACHE-2.0</a:t>
            </a:r>
          </a:p>
        </p:txBody>
      </p:sp>
    </p:spTree>
    <p:extLst>
      <p:ext uri="{BB962C8B-B14F-4D97-AF65-F5344CB8AC3E}">
        <p14:creationId xmlns:p14="http://schemas.microsoft.com/office/powerpoint/2010/main" val="96616866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B061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920DA23-3208-4EC3-910B-0836FD23F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53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D8B4FE"/>
                </a:solidFill>
              </a:defRPr>
            </a:pPr>
            <a:r>
              <a:rPr sz="1050" b="1">
                <a:solidFill>
                  <a:srgbClr val="D8B4FE"/>
                </a:solidFill>
              </a:rPr>
              <a:t>GLOBAL FAILURES ARE ENGINEERING FAILURES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4787AE-E088-4C25-8EBE-B5699D51C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95350"/>
            <a:ext cx="61912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FFF8E8"/>
                </a:solidFill>
              </a:defRPr>
            </a:pPr>
            <a:r>
              <a:rPr sz="3300" b="1">
                <a:solidFill>
                  <a:srgbClr val="FFF8E8"/>
                </a:solidFill>
              </a:rPr>
              <a:t>Translation passed.</a:t>
            </a:r>
          </a:p>
          <a:p xmlns:a="http://schemas.openxmlformats.org/drawingml/2006/main">
            <a:pPr algn="l">
              <a:buNone/>
              <a:defRPr sz="3300" b="1">
                <a:solidFill>
                  <a:srgbClr val="FFF8E8"/>
                </a:solidFill>
              </a:defRPr>
            </a:pPr>
            <a:r>
              <a:rPr sz="3300" b="1">
                <a:solidFill>
                  <a:srgbClr val="FFF8E8"/>
                </a:solidFill>
              </a:rPr>
              <a:t>Release still failed.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5A2C65-9754-434D-82FC-E021361F3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09800"/>
            <a:ext cx="5334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B9AFC8"/>
                </a:solidFill>
              </a:defRPr>
            </a:pPr>
            <a:r>
              <a:rPr sz="1650" b="0">
                <a:solidFill>
                  <a:srgbClr val="B9AFC8"/>
                </a:solidFill>
              </a:rPr>
              <a:t>Ten reproducible defects across scripts, routes and viewports.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01C819-28E4-44F8-93EF-3351916D9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3375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ACC15"/>
                </a:solidFill>
              </a:defRPr>
            </a:pPr>
            <a:r>
              <a:rPr sz="1050" b="1">
                <a:solidFill>
                  <a:srgbClr val="FACC15"/>
                </a:solidFill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97BC79-29BD-4E27-ACFD-4448426D3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3147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FF8E8"/>
                </a:solidFill>
              </a:defRPr>
            </a:pPr>
            <a:r>
              <a:rPr sz="1425" b="1">
                <a:solidFill>
                  <a:srgbClr val="FFF8E8"/>
                </a:solidFill>
              </a:rPr>
              <a:t>Visual geometry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FA333B-78E0-42DD-8264-4E1030176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609975"/>
            <a:ext cx="361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B9AFC8"/>
                </a:solidFill>
              </a:defRPr>
            </a:pPr>
            <a:r>
              <a:rPr sz="1125" b="0">
                <a:solidFill>
                  <a:srgbClr val="B9AFC8"/>
                </a:solidFill>
              </a:rPr>
              <a:t>Glyphs clip; expanded controls overflow.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4DB0F3-9675-4BBF-94D7-3CA16F1A7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7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ACC15"/>
                </a:solidFill>
              </a:defRPr>
            </a:pPr>
            <a:r>
              <a:rPr sz="1050" b="1">
                <a:solidFill>
                  <a:srgbClr val="FACC15"/>
                </a:solidFill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3542A4-1E6E-49C8-A5B4-0C217378D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0576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FF8E8"/>
                </a:solidFill>
              </a:defRPr>
            </a:pPr>
            <a:r>
              <a:rPr sz="1425" b="1">
                <a:solidFill>
                  <a:srgbClr val="FFF8E8"/>
                </a:solidFill>
              </a:rPr>
              <a:t>Locale semantics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BE3D24-EB8F-4694-81B7-A4DC0F830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352925"/>
            <a:ext cx="361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B9AFC8"/>
                </a:solidFill>
              </a:defRPr>
            </a:pPr>
            <a:r>
              <a:rPr sz="1125" b="0">
                <a:solidFill>
                  <a:srgbClr val="B9AFC8"/>
                </a:solidFill>
              </a:rPr>
              <a:t>RTL, icon order and page language fail.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F0AA81-75C6-402E-8FAE-1E2DCCCA5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1965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ACC15"/>
                </a:solidFill>
              </a:defRPr>
            </a:pPr>
            <a:r>
              <a:rPr sz="1050" b="1">
                <a:solidFill>
                  <a:srgbClr val="FACC15"/>
                </a:solidFill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A2BDD3-218D-4F38-ADC9-BFC4DF45F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006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FF8E8"/>
                </a:solidFill>
              </a:defRPr>
            </a:pPr>
            <a:r>
              <a:rPr sz="1425" b="1">
                <a:solidFill>
                  <a:srgbClr val="FFF8E8"/>
                </a:solidFill>
              </a:rPr>
              <a:t>Content integrity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9F506B-7A1E-43B9-9925-1196DB69B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095875"/>
            <a:ext cx="361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B9AFC8"/>
                </a:solidFill>
              </a:defRPr>
            </a:pPr>
            <a:r>
              <a:rPr sz="1125" b="0">
                <a:solidFill>
                  <a:srgbClr val="B9AFC8"/>
                </a:solidFill>
              </a:rPr>
              <a:t>Keys, fonts, wrapping, tokens and terms fail.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D613A5-242B-4F69-B324-813761547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00050"/>
            <a:ext cx="4057650" cy="5772150"/>
          </a:xfrm>
          <a:prstGeom xmlns:a="http://schemas.openxmlformats.org/drawingml/2006/main" prst="roundRect">
            <a:avLst>
              <a:gd name="adj" fmla="val 3756"/>
            </a:avLst>
          </a:prstGeom>
          <a:solidFill xmlns:a="http://schemas.openxmlformats.org/drawingml/2006/main">
            <a:srgbClr val="171023"/>
          </a:solidFill>
          <a:ln xmlns:a="http://schemas.openxmlformats.org/drawingml/2006/main" w="9525">
            <a:solidFill>
              <a:srgbClr val="38294B"/>
            </a:solidFill>
            <a:prstDash val="solid"/>
          </a:ln>
        </p:spPr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ea43ae5a9a4f21"/>
          <a:srcRect xmlns:a="http://schemas.openxmlformats.org/drawingml/2006/main" l="0" t="10366" r="0" b="1036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7734300" y="666750"/>
            <a:ext cx="3067050" cy="5257800"/>
          </a:xfrm>
          <a:prstGeom xmlns:a="http://schemas.openxmlformats.org/drawingml/2006/main" prst="roundRect">
            <a:avLst/>
          </a:prstGeom>
        </p:spPr>
      </p:pic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46B3821-E4F6-4881-87D1-4154C9238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457950"/>
            <a:ext cx="10782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29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AD3BFED-70B4-48CC-A774-70D759D37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543675"/>
            <a:ext cx="4000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B9AFC8"/>
                </a:solidFill>
              </a:defRPr>
            </a:pPr>
            <a:r>
              <a:rPr sz="750" b="1">
                <a:solidFill>
                  <a:srgbClr val="B9AFC8"/>
                </a:solidFill>
              </a:rPr>
              <a:t>BHASHAFIX · CODEX HACKATHON 2026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EADB5CD-D72B-42DB-84AF-0A7233C59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543675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B9AFC8"/>
                </a:solidFill>
              </a:defRPr>
            </a:pPr>
            <a:r>
              <a:rPr sz="750" b="1">
                <a:solidFill>
                  <a:srgbClr val="B9AFC8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96626146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B061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B37DDC-1575-4714-A5DB-F4B61F9C4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53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D8B4FE"/>
                </a:solidFill>
              </a:defRPr>
            </a:pPr>
            <a:r>
              <a:rPr sz="1050" b="1">
                <a:solidFill>
                  <a:srgbClr val="D8B4FE"/>
                </a:solidFill>
              </a:rPr>
              <a:t>TRANSLATION IS NOT THE RELEASE GATE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6C784E-7318-483B-9CE3-59A86BE0F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95350"/>
            <a:ext cx="685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FFF8E8"/>
                </a:solidFill>
              </a:defRPr>
            </a:pPr>
            <a:r>
              <a:rPr sz="3300" b="1">
                <a:solidFill>
                  <a:srgbClr val="FFF8E8"/>
                </a:solidFill>
              </a:rPr>
              <a:t>Strings are only the input.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93636D-D823-4517-8786-A97E1BE79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9545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B9AFC8"/>
                </a:solidFill>
              </a:defRPr>
            </a:pPr>
            <a:r>
              <a:rPr sz="1800" b="0">
                <a:solidFill>
                  <a:srgbClr val="B9AFC8"/>
                </a:solidFill>
              </a:rPr>
              <a:t>The missing layer is the rendered, accessible product.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C78DBF-998D-4458-B871-13E4A9882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47950"/>
            <a:ext cx="10744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29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D03F90-2E23-4234-A6C5-0259F872A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95600"/>
            <a:ext cx="238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D8B4FE"/>
                </a:solidFill>
              </a:defRPr>
            </a:pPr>
            <a:r>
              <a:rPr sz="1050" b="1">
                <a:solidFill>
                  <a:srgbClr val="D8B4FE"/>
                </a:solidFill>
              </a:rPr>
              <a:t>TRANSLATION PIPELINE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EDFD79-6B6B-41D3-A649-BDEF11C5F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895600"/>
            <a:ext cx="3048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ACC15"/>
                </a:solidFill>
              </a:defRPr>
            </a:pPr>
            <a:r>
              <a:rPr sz="1050" b="1">
                <a:solidFill>
                  <a:srgbClr val="FACC15"/>
                </a:solidFill>
              </a:rPr>
              <a:t>BHASHAFIX HARNESS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9E33AA-E84C-4CBE-AAFD-3C5C52A7E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33750"/>
            <a:ext cx="40005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FFF8E8"/>
                </a:solidFill>
              </a:defRPr>
            </a:pPr>
            <a:r>
              <a:rPr sz="2550" b="1">
                <a:solidFill>
                  <a:srgbClr val="FFF8E8"/>
                </a:solidFill>
              </a:rPr>
              <a:t>Translate strings</a:t>
            </a:r>
          </a:p>
          <a:p xmlns:a="http://schemas.openxmlformats.org/drawingml/2006/main">
            <a:pPr algn="l">
              <a:buNone/>
              <a:defRPr sz="2550" b="1">
                <a:solidFill>
                  <a:srgbClr val="FFF8E8"/>
                </a:solidFill>
              </a:defRPr>
            </a:pPr>
            <a:r>
              <a:rPr sz="2550" b="1">
                <a:solidFill>
                  <a:srgbClr val="FFF8E8"/>
                </a:solidFill>
              </a:rPr>
              <a:t>Manage keys</a:t>
            </a:r>
          </a:p>
          <a:p xmlns:a="http://schemas.openxmlformats.org/drawingml/2006/main">
            <a:pPr algn="l">
              <a:buNone/>
              <a:defRPr sz="2550" b="1">
                <a:solidFill>
                  <a:srgbClr val="FFF8E8"/>
                </a:solidFill>
              </a:defRPr>
            </a:pPr>
            <a:r>
              <a:rPr sz="2550" b="1">
                <a:solidFill>
                  <a:srgbClr val="FFF8E8"/>
                </a:solidFill>
              </a:rPr>
              <a:t>Choose wording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FE53D0-1D4B-4EA0-A171-508498153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3752850"/>
            <a:ext cx="457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850" b="1">
                <a:solidFill>
                  <a:srgbClr val="FACC15"/>
                </a:solidFill>
              </a:defRPr>
            </a:pPr>
            <a:r>
              <a:rPr sz="2850" b="1">
                <a:solidFill>
                  <a:srgbClr val="FACC15"/>
                </a:solidFill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1B383A-3810-42F4-8A1A-AFE1DF51C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333750"/>
            <a:ext cx="4381500" cy="2047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FFF8E8"/>
                </a:solidFill>
              </a:defRPr>
            </a:pPr>
            <a:r>
              <a:rPr sz="2550" b="1">
                <a:solidFill>
                  <a:srgbClr val="FFF8E8"/>
                </a:solidFill>
              </a:rPr>
              <a:t>Render + stress</a:t>
            </a:r>
          </a:p>
          <a:p xmlns:a="http://schemas.openxmlformats.org/drawingml/2006/main">
            <a:pPr algn="l">
              <a:buNone/>
              <a:defRPr sz="2550" b="1">
                <a:solidFill>
                  <a:srgbClr val="FFF8E8"/>
                </a:solidFill>
              </a:defRPr>
            </a:pPr>
            <a:r>
              <a:rPr sz="2550" b="1">
                <a:solidFill>
                  <a:srgbClr val="FFF8E8"/>
                </a:solidFill>
              </a:rPr>
              <a:t>Measure evidence</a:t>
            </a:r>
          </a:p>
          <a:p xmlns:a="http://schemas.openxmlformats.org/drawingml/2006/main">
            <a:pPr algn="l">
              <a:buNone/>
              <a:defRPr sz="2550" b="1">
                <a:solidFill>
                  <a:srgbClr val="FFF8E8"/>
                </a:solidFill>
              </a:defRPr>
            </a:pPr>
            <a:r>
              <a:rPr sz="2550" b="1">
                <a:solidFill>
                  <a:srgbClr val="FFF8E8"/>
                </a:solidFill>
              </a:rPr>
              <a:t>Repair safely</a:t>
            </a:r>
          </a:p>
          <a:p xmlns:a="http://schemas.openxmlformats.org/drawingml/2006/main">
            <a:pPr algn="l">
              <a:buNone/>
              <a:defRPr sz="2550" b="1">
                <a:solidFill>
                  <a:srgbClr val="FFF8E8"/>
                </a:solidFill>
              </a:defRPr>
            </a:pPr>
            <a:r>
              <a:rPr sz="2550" b="1">
                <a:solidFill>
                  <a:srgbClr val="FFF8E8"/>
                </a:solidFill>
              </a:rPr>
              <a:t>Prove release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7FB96F-1712-45CC-9BAC-77137B8EE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5495925"/>
            <a:ext cx="447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86EFAC"/>
                </a:solidFill>
              </a:defRPr>
            </a:pPr>
            <a:r>
              <a:rPr sz="1350" b="1">
                <a:solidFill>
                  <a:srgbClr val="86EFAC"/>
                </a:solidFill>
              </a:rPr>
              <a:t>Models can recommend. Only deterministic predicates can accept.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2B7BC94-7CC9-4DB3-9EB4-C74320AD4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457950"/>
            <a:ext cx="10782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29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4855FCF-7000-44F6-974A-D2C138893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543675"/>
            <a:ext cx="4000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B9AFC8"/>
                </a:solidFill>
              </a:defRPr>
            </a:pPr>
            <a:r>
              <a:rPr sz="750" b="1">
                <a:solidFill>
                  <a:srgbClr val="B9AFC8"/>
                </a:solidFill>
              </a:rPr>
              <a:t>BHASHAFIX · CODEX HACKATHON 2026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5FF9EE-B8FD-4AE2-B8D8-60A12F587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543675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B9AFC8"/>
                </a:solidFill>
              </a:defRPr>
            </a:pPr>
            <a:r>
              <a:rPr sz="750" b="1">
                <a:solidFill>
                  <a:srgbClr val="B9AFC8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6681628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B061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3FD0AE7-540A-4209-84F9-D870E60D7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53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D8B4FE"/>
                </a:solidFill>
              </a:defRPr>
            </a:pPr>
            <a:r>
              <a:rPr sz="1050" b="1">
                <a:solidFill>
                  <a:srgbClr val="D8B4FE"/>
                </a:solidFill>
              </a:rPr>
              <a:t>THE PRODUCT WORKFLOW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786254-9F8E-43D9-9193-7C54B410B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38200"/>
            <a:ext cx="6572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FFF8E8"/>
                </a:solidFill>
              </a:defRPr>
            </a:pPr>
            <a:r>
              <a:rPr sz="3300" b="1">
                <a:solidFill>
                  <a:srgbClr val="FFF8E8"/>
                </a:solidFill>
              </a:rPr>
              <a:t>Eleven stages. One proof loop.</a:t>
            </a:r>
          </a:p>
        </p:txBody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876485c2db4486"/>
          <a:srcRect xmlns:a="http://schemas.openxmlformats.org/drawingml/2006/main" l="0" t="6924" r="0" b="692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4591050" y="1676400"/>
            <a:ext cx="6896100" cy="3714750"/>
          </a:xfrm>
          <a:prstGeom xmlns:a="http://schemas.openxmlformats.org/drawingml/2006/main" prst="round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3AAB12-E6EC-4C88-991A-866461CF2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90700"/>
            <a:ext cx="3238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171023"/>
          </a:solidFill>
          <a:ln xmlns:a="http://schemas.openxmlformats.org/drawingml/2006/main" w="9525">
            <a:solidFill>
              <a:srgbClr val="38294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13859C-6413-4B0C-93B1-8E3FF57BC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38325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86EFAC"/>
                </a:solidFill>
              </a:defRPr>
            </a:pPr>
            <a:r>
              <a:rPr sz="975" b="1">
                <a:solidFill>
                  <a:srgbClr val="86EFAC"/>
                </a:solidFill>
              </a:rPr>
              <a:t>✓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32F585-C0AD-418E-92EB-AD7CC41DB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800225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FF8E8"/>
                </a:solidFill>
              </a:defRPr>
            </a:pPr>
            <a:r>
              <a:rPr sz="1575" b="1">
                <a:solidFill>
                  <a:srgbClr val="FFF8E8"/>
                </a:solidFill>
              </a:rPr>
              <a:t>Discover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CE1000-BE7B-45D1-805D-5709EE42A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19350"/>
            <a:ext cx="3238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171023"/>
          </a:solidFill>
          <a:ln xmlns:a="http://schemas.openxmlformats.org/drawingml/2006/main" w="9525">
            <a:solidFill>
              <a:srgbClr val="38294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793B77-AEFD-480F-ADB5-9A1017291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66975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86EFAC"/>
                </a:solidFill>
              </a:defRPr>
            </a:pPr>
            <a:r>
              <a:rPr sz="975" b="1">
                <a:solidFill>
                  <a:srgbClr val="86EFAC"/>
                </a:solidFill>
              </a:rPr>
              <a:t>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384604-CD63-4CA0-8A42-839CB27B8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28875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FF8E8"/>
                </a:solidFill>
              </a:defRPr>
            </a:pPr>
            <a:r>
              <a:rPr sz="1575" b="1">
                <a:solidFill>
                  <a:srgbClr val="FFF8E8"/>
                </a:solidFill>
              </a:rPr>
              <a:t>Render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80D0A1-AAEF-4F35-94D4-E22B56CBF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48000"/>
            <a:ext cx="3238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171023"/>
          </a:solidFill>
          <a:ln xmlns:a="http://schemas.openxmlformats.org/drawingml/2006/main" w="9525">
            <a:solidFill>
              <a:srgbClr val="38294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3DCD79-0EE8-4D92-B2AC-992EB6ECF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95625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86EFAC"/>
                </a:solidFill>
              </a:defRPr>
            </a:pPr>
            <a:r>
              <a:rPr sz="975" b="1">
                <a:solidFill>
                  <a:srgbClr val="86EFAC"/>
                </a:solidFill>
              </a:rPr>
              <a:t>✓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6FA617-926F-4CD2-B045-CE69A0F8A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057525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FF8E8"/>
                </a:solidFill>
              </a:defRPr>
            </a:pPr>
            <a:r>
              <a:rPr sz="1575" b="1">
                <a:solidFill>
                  <a:srgbClr val="FFF8E8"/>
                </a:solidFill>
              </a:rPr>
              <a:t>Diagnose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F70BEBC-D5D2-4800-97F7-58B5B69B5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76650"/>
            <a:ext cx="3238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171023"/>
          </a:solidFill>
          <a:ln xmlns:a="http://schemas.openxmlformats.org/drawingml/2006/main" w="9525">
            <a:solidFill>
              <a:srgbClr val="38294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F01A81-D4A6-4796-9013-C5E86298C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24275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86EFAC"/>
                </a:solidFill>
              </a:defRPr>
            </a:pPr>
            <a:r>
              <a:rPr sz="975" b="1">
                <a:solidFill>
                  <a:srgbClr val="86EFAC"/>
                </a:solidFill>
              </a:rPr>
              <a:t>✓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F589BF1-642F-44EE-80F1-FB8F5F048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686175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FF8E8"/>
                </a:solidFill>
              </a:defRPr>
            </a:pPr>
            <a:r>
              <a:rPr sz="1575" b="1">
                <a:solidFill>
                  <a:srgbClr val="FFF8E8"/>
                </a:solidFill>
              </a:rPr>
              <a:t>Repair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8B162F2-4A3C-4DC4-AE19-27837F0CD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05300"/>
            <a:ext cx="3238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171023"/>
          </a:solidFill>
          <a:ln xmlns:a="http://schemas.openxmlformats.org/drawingml/2006/main" w="9525">
            <a:solidFill>
              <a:srgbClr val="38294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FE86D3E-193F-4DBD-A13B-9928689DE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52925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86EFAC"/>
                </a:solidFill>
              </a:defRPr>
            </a:pPr>
            <a:r>
              <a:rPr sz="975" b="1">
                <a:solidFill>
                  <a:srgbClr val="86EFAC"/>
                </a:solidFill>
              </a:rPr>
              <a:t>✓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AA25F48-040D-44E1-ABA2-5E2206B30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314825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FF8E8"/>
                </a:solidFill>
              </a:defRPr>
            </a:pPr>
            <a:r>
              <a:rPr sz="1575" b="1">
                <a:solidFill>
                  <a:srgbClr val="FFF8E8"/>
                </a:solidFill>
              </a:rPr>
              <a:t>Verify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A3332C-57BB-425B-8CD2-6E629A682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33950"/>
            <a:ext cx="3238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ACC15"/>
          </a:solidFill>
          <a:ln xmlns:a="http://schemas.openxmlformats.org/drawingml/2006/main" w="9525">
            <a:solidFill>
              <a:srgbClr val="FACC1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F6B3815-5466-4BC1-BBF2-2A4E55DE0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81575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0B0613"/>
                </a:solidFill>
              </a:defRPr>
            </a:pPr>
            <a:r>
              <a:rPr sz="975" b="1">
                <a:solidFill>
                  <a:srgbClr val="0B0613"/>
                </a:solidFill>
              </a:rPr>
              <a:t>6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D15AFC2-0F68-4EA6-A71D-514CDF4A2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943475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FF8E8"/>
                </a:solidFill>
              </a:defRPr>
            </a:pPr>
            <a:r>
              <a:rPr sz="1575" b="1">
                <a:solidFill>
                  <a:srgbClr val="FFF8E8"/>
                </a:solidFill>
              </a:rPr>
              <a:t>Prove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51E32B2-3491-457B-B25F-48DC662A3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734050"/>
            <a:ext cx="1009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B9AFC8"/>
                </a:solidFill>
              </a:defRPr>
            </a:pPr>
            <a:r>
              <a:rPr sz="1350" b="0">
                <a:solidFill>
                  <a:srgbClr val="B9AFC8"/>
                </a:solidFill>
              </a:rPr>
              <a:t>Every issue keeps route, locale, viewport, browser, selector, measurement and predicate.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4C66F09-E1B5-496F-96F3-0A0CAEB13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457950"/>
            <a:ext cx="10782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29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B95787F-C8B8-4BB0-BB15-9E488C8A7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543675"/>
            <a:ext cx="4000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B9AFC8"/>
                </a:solidFill>
              </a:defRPr>
            </a:pPr>
            <a:r>
              <a:rPr sz="750" b="1">
                <a:solidFill>
                  <a:srgbClr val="B9AFC8"/>
                </a:solidFill>
              </a:rPr>
              <a:t>BHASHAFIX · CODEX HACKATHON 2026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EB60A6E-8802-4684-9487-F8615C0E8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543675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B9AFC8"/>
                </a:solidFill>
              </a:defRPr>
            </a:pPr>
            <a:r>
              <a:rPr sz="750" b="1">
                <a:solidFill>
                  <a:srgbClr val="B9AFC8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51957192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B061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95F1ECC-33CA-449E-8B72-DF1B2D383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53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D8B4FE"/>
                </a:solidFill>
              </a:defRPr>
            </a:pPr>
            <a:r>
              <a:rPr sz="1050" b="1">
                <a:solidFill>
                  <a:srgbClr val="D8B4FE"/>
                </a:solidFill>
              </a:rPr>
              <a:t>ONE ENGINE · FOUR SURFACES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661D7A-1548-40F6-AD80-F289455FE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76300"/>
            <a:ext cx="781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FFF8E8"/>
                </a:solidFill>
              </a:defRPr>
            </a:pPr>
            <a:r>
              <a:rPr sz="3300" b="1">
                <a:solidFill>
                  <a:srgbClr val="FFF8E8"/>
                </a:solidFill>
              </a:rPr>
              <a:t>The same truth everywhere.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4708C7-85BD-4DDD-8A92-F1E93E15A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19250"/>
            <a:ext cx="9239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B9AFC8"/>
                </a:solidFill>
              </a:defRPr>
            </a:pPr>
            <a:r>
              <a:rPr sz="1575" b="0">
                <a:solidFill>
                  <a:srgbClr val="B9AFC8"/>
                </a:solidFill>
              </a:rPr>
              <a:t>Shared TypeScript core. Strict schemas. One repair and verification contract.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88DF36-9B12-4C9F-B3FA-73EAE9EFA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895600"/>
            <a:ext cx="1809750" cy="198120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71023"/>
          </a:solidFill>
          <a:ln xmlns:a="http://schemas.openxmlformats.org/drawingml/2006/main" w="9525">
            <a:solidFill>
              <a:srgbClr val="38294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A88E9D-EF49-4A0B-9515-7DC28D502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861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8B4FE"/>
                </a:solidFill>
              </a:defRPr>
            </a:pPr>
            <a:r>
              <a:rPr sz="975" b="1">
                <a:solidFill>
                  <a:srgbClr val="D8B4FE"/>
                </a:solidFill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54F0FA-6DB3-4301-88D7-EC99DF879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62350"/>
            <a:ext cx="1466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FF8E8"/>
                </a:solidFill>
              </a:defRPr>
            </a:pPr>
            <a:r>
              <a:rPr sz="1725" b="1">
                <a:solidFill>
                  <a:srgbClr val="FFF8E8"/>
                </a:solidFill>
              </a:rPr>
              <a:t>WEB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2BA730-6AF8-441B-90D6-A954D7A1B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14800"/>
            <a:ext cx="1466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visual review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proof downloads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24E66F-6461-4CAE-A8F6-EF6C7166F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36766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ACC15"/>
                </a:solidFill>
              </a:defRPr>
            </a:pPr>
            <a:r>
              <a:rPr sz="1800" b="1">
                <a:solidFill>
                  <a:srgbClr val="FACC15"/>
                </a:solidFill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61C521-4AF2-4B8A-A515-7D4C6118B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2895600"/>
            <a:ext cx="1809750" cy="198120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71023"/>
          </a:solidFill>
          <a:ln xmlns:a="http://schemas.openxmlformats.org/drawingml/2006/main" w="9525">
            <a:solidFill>
              <a:srgbClr val="38294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7C2B1A-8D1D-44C1-883E-67E68D311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30861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8B4FE"/>
                </a:solidFill>
              </a:defRPr>
            </a:pPr>
            <a:r>
              <a:rPr sz="975" b="1">
                <a:solidFill>
                  <a:srgbClr val="D8B4FE"/>
                </a:solidFill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FD8299-14A7-463A-B40E-20F643D18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3562350"/>
            <a:ext cx="1466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FF8E8"/>
                </a:solidFill>
              </a:defRPr>
            </a:pPr>
            <a:r>
              <a:rPr sz="1725" b="1">
                <a:solidFill>
                  <a:srgbClr val="FFF8E8"/>
                </a:solidFill>
              </a:rPr>
              <a:t>CLI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A3C368-7656-4CE6-A15F-0D652EA77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4114800"/>
            <a:ext cx="1466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stable exits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JSON mode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049B16-5121-494E-8BB2-A45161350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6766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ACC15"/>
                </a:solidFill>
              </a:defRPr>
            </a:pPr>
            <a:r>
              <a:rPr sz="1800" b="1">
                <a:solidFill>
                  <a:srgbClr val="FACC15"/>
                </a:solidFill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358DDA4-C02F-4DC2-8D08-03B0E7014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895600"/>
            <a:ext cx="1809750" cy="198120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71023"/>
          </a:solidFill>
          <a:ln xmlns:a="http://schemas.openxmlformats.org/drawingml/2006/main" w="9525">
            <a:solidFill>
              <a:srgbClr val="38294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0511C1D-BC0F-45E2-A047-8B27C007D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0861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8B4FE"/>
                </a:solidFill>
              </a:defRPr>
            </a:pPr>
            <a:r>
              <a:rPr sz="975" b="1">
                <a:solidFill>
                  <a:srgbClr val="D8B4FE"/>
                </a:solidFill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55CFBE-C57C-4293-9345-D7E38B210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562350"/>
            <a:ext cx="1466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FF8E8"/>
                </a:solidFill>
              </a:defRPr>
            </a:pPr>
            <a:r>
              <a:rPr sz="1725" b="1">
                <a:solidFill>
                  <a:srgbClr val="FFF8E8"/>
                </a:solidFill>
              </a:rPr>
              <a:t>MCP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C4E35FD-EDB1-4B70-8555-5C785B6D0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4114800"/>
            <a:ext cx="1466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15 tools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strict schemas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6900EF8-1337-4C67-A1D7-90C31F59F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4675" y="36766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ACC15"/>
                </a:solidFill>
              </a:defRPr>
            </a:pPr>
            <a:r>
              <a:rPr sz="1800" b="1">
                <a:solidFill>
                  <a:srgbClr val="FACC15"/>
                </a:solidFill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249941B-9477-4834-BE54-7DC711C5D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2895600"/>
            <a:ext cx="1809750" cy="198120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231339"/>
          </a:solidFill>
          <a:ln xmlns:a="http://schemas.openxmlformats.org/drawingml/2006/main" w="9525">
            <a:solidFill>
              <a:srgbClr val="A855F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D115E53-3CBE-4EA9-A97A-E2713C682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30861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ACC15"/>
                </a:solidFill>
              </a:defRPr>
            </a:pPr>
            <a:r>
              <a:rPr sz="975" b="1">
                <a:solidFill>
                  <a:srgbClr val="FACC15"/>
                </a:solidFill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7CDB83F-14A2-4489-AA79-1C6783EE5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3562350"/>
            <a:ext cx="1466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FF8E8"/>
                </a:solidFill>
              </a:defRPr>
            </a:pPr>
            <a:r>
              <a:rPr sz="1725" b="1">
                <a:solidFill>
                  <a:srgbClr val="FFF8E8"/>
                </a:solidFill>
              </a:rPr>
              <a:t>CI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61F23FD-9B1A-4358-A005-B6295F4C1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4114800"/>
            <a:ext cx="1466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severity gate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artifacts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A0C4DE1-1826-4607-A833-0C813FBB3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6766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ACC15"/>
                </a:solidFill>
              </a:defRPr>
            </a:pPr>
            <a:r>
              <a:rPr sz="1800" b="1">
                <a:solidFill>
                  <a:srgbClr val="FACC15"/>
                </a:solidFill>
              </a:rPr>
              <a:t>→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90615D3-56C3-421D-805F-073079010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895600"/>
            <a:ext cx="1809750" cy="198120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71023"/>
          </a:solidFill>
          <a:ln xmlns:a="http://schemas.openxmlformats.org/drawingml/2006/main" w="9525">
            <a:solidFill>
              <a:srgbClr val="38294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1FB989A-DF38-4E12-84CA-35D073328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0861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8B4FE"/>
                </a:solidFill>
              </a:defRPr>
            </a:pPr>
            <a:r>
              <a:rPr sz="975" b="1">
                <a:solidFill>
                  <a:srgbClr val="D8B4FE"/>
                </a:solidFill>
              </a:rPr>
              <a:t>05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39FAD00-FAA5-4012-A239-16BAAF0C5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562350"/>
            <a:ext cx="1466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FF8E8"/>
                </a:solidFill>
              </a:defRPr>
            </a:pPr>
            <a:r>
              <a:rPr sz="1725" b="1">
                <a:solidFill>
                  <a:srgbClr val="FFF8E8"/>
                </a:solidFill>
              </a:rPr>
              <a:t>CORE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60894C4-A8EA-4468-9A85-DBD24D541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4114800"/>
            <a:ext cx="1466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locale engines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repair + verify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3B938FD-7117-4EBC-8A1F-9AD5778D4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48300"/>
            <a:ext cx="7429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86EFAC"/>
                </a:solidFill>
              </a:defRPr>
            </a:pPr>
            <a:r>
              <a:rPr sz="1950" b="1">
                <a:solidFill>
                  <a:srgbClr val="86EFAC"/>
                </a:solidFill>
              </a:rPr>
              <a:t>General agents call BhashaFix instead of guessing whether localisation is complete.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15904C2-F0D5-4549-8569-BCDA34B62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457950"/>
            <a:ext cx="10782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29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D91CB27-DA7B-4AC4-AF25-79ACC74AF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543675"/>
            <a:ext cx="4000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B9AFC8"/>
                </a:solidFill>
              </a:defRPr>
            </a:pPr>
            <a:r>
              <a:rPr sz="750" b="1">
                <a:solidFill>
                  <a:srgbClr val="B9AFC8"/>
                </a:solidFill>
              </a:rPr>
              <a:t>BHASHAFIX · CODEX HACKATHON 2026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45AA4A7-A49C-4E6A-B3C1-950E2249B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543675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B9AFC8"/>
                </a:solidFill>
              </a:defRPr>
            </a:pPr>
            <a:r>
              <a:rPr sz="750" b="1">
                <a:solidFill>
                  <a:srgbClr val="B9AFC8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204812777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B061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5499D63-21B6-419B-8667-7DCCE3B4C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53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D8B4FE"/>
                </a:solidFill>
              </a:defRPr>
            </a:pPr>
            <a:r>
              <a:rPr sz="1050" b="1">
                <a:solidFill>
                  <a:srgbClr val="D8B4FE"/>
                </a:solidFill>
              </a:rPr>
              <a:t>THE VERIFIED PROOF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20FFCB-9851-41EA-9BF6-ACB483D14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123950"/>
            <a:ext cx="1714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450" b="1">
                <a:solidFill>
                  <a:srgbClr val="FB7185"/>
                </a:solidFill>
              </a:defRPr>
            </a:pPr>
            <a:r>
              <a:rPr sz="9450" b="1">
                <a:solidFill>
                  <a:srgbClr val="FB7185"/>
                </a:solidFill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840A6F-D013-448C-B8AE-FEBBC3FCB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524000"/>
            <a:ext cx="857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FACC15"/>
                </a:solidFill>
              </a:defRPr>
            </a:pPr>
            <a:r>
              <a:rPr sz="4650" b="1">
                <a:solidFill>
                  <a:srgbClr val="FACC15"/>
                </a:solidFill>
              </a:rPr>
              <a:t>→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37FF0B-BBB4-4E3E-9243-F78804267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123950"/>
            <a:ext cx="1714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450" b="1">
                <a:solidFill>
                  <a:srgbClr val="86EFAC"/>
                </a:solidFill>
              </a:defRPr>
            </a:pPr>
            <a:r>
              <a:rPr sz="9450" b="1">
                <a:solidFill>
                  <a:srgbClr val="86EFAC"/>
                </a:solidFill>
              </a:rPr>
              <a:t>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2D7217-20D7-4E73-9A9B-7CEC2A974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81300"/>
            <a:ext cx="409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FFF8E8"/>
                </a:solidFill>
              </a:defRPr>
            </a:pPr>
            <a:r>
              <a:rPr sz="1875" b="1">
                <a:solidFill>
                  <a:srgbClr val="FFF8E8"/>
                </a:solidFill>
              </a:rPr>
              <a:t>blocking failures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E8D744-33E1-4C50-BEF2-1A40EF60B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671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B9AFC8"/>
                </a:solidFill>
              </a:defRPr>
            </a:pPr>
            <a:r>
              <a:rPr sz="1350" b="0">
                <a:solidFill>
                  <a:srgbClr val="B9AFC8"/>
                </a:solidFill>
              </a:rPr>
              <a:t>Source regression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9009F1-08E2-46C1-B863-3D3863C48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409950"/>
            <a:ext cx="152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86EFAC"/>
                </a:solidFill>
              </a:defRPr>
            </a:pPr>
            <a:r>
              <a:rPr sz="2100" b="1">
                <a:solidFill>
                  <a:srgbClr val="86EFAC"/>
                </a:solidFill>
              </a:rPr>
              <a:t>PASS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5FA740-F3FC-4E11-8D49-3D507D7A4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529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B9AFC8"/>
                </a:solidFill>
              </a:defRPr>
            </a:pPr>
            <a:r>
              <a:rPr sz="1350" b="0">
                <a:solidFill>
                  <a:srgbClr val="B9AFC8"/>
                </a:solidFill>
              </a:rPr>
              <a:t>Changed source files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697FDE-BD1F-4084-B988-9DC020045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4038600"/>
            <a:ext cx="1524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FFF8E8"/>
                </a:solidFill>
              </a:defRPr>
            </a:pPr>
            <a:r>
              <a:rPr sz="2700" b="1">
                <a:solidFill>
                  <a:srgbClr val="FFF8E8"/>
                </a:solidFill>
              </a:rPr>
              <a:t>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B95658-6481-490A-BA4F-6CF58B207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57750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B9AFC8"/>
                </a:solidFill>
              </a:defRPr>
            </a:pPr>
            <a:r>
              <a:rPr sz="1350" b="0">
                <a:solidFill>
                  <a:srgbClr val="B9AFC8"/>
                </a:solidFill>
              </a:rPr>
              <a:t>Browser console errors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A6C57E1-4937-498C-839B-2DC972BF6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4743450"/>
            <a:ext cx="1524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FFF8E8"/>
                </a:solidFill>
              </a:defRPr>
            </a:pPr>
            <a:r>
              <a:rPr sz="2700" b="1">
                <a:solidFill>
                  <a:srgbClr val="FFF8E8"/>
                </a:solidFill>
              </a:rPr>
              <a:t>0</a:t>
            </a:r>
          </a:p>
        </p:txBody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281b1a0ec044a1"/>
          <a:srcRect xmlns:a="http://schemas.openxmlformats.org/drawingml/2006/main" l="0" t="51" r="0" b="5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5219700" y="1047750"/>
            <a:ext cx="6267450" cy="3914775"/>
          </a:xfrm>
          <a:prstGeom xmlns:a="http://schemas.openxmlformats.org/drawingml/2006/main" prst="round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B8D0987-F9A6-41AF-B009-B83B4F3FB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457950"/>
            <a:ext cx="10782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29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C67E396-BD9F-42B3-9AC6-2A92878FF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543675"/>
            <a:ext cx="4000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B9AFC8"/>
                </a:solidFill>
              </a:defRPr>
            </a:pPr>
            <a:r>
              <a:rPr sz="750" b="1">
                <a:solidFill>
                  <a:srgbClr val="B9AFC8"/>
                </a:solidFill>
              </a:rPr>
              <a:t>BHASHAFIX · CODEX HACKATHON 2026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A6F9047-5D52-4C70-A132-F39C18D4A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543675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B9AFC8"/>
                </a:solidFill>
              </a:defRPr>
            </a:pPr>
            <a:r>
              <a:rPr sz="750" b="1">
                <a:solidFill>
                  <a:srgbClr val="B9AFC8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84893792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B061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95F1ECC-33CA-449E-8B72-DF1B2D383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53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D8B4FE"/>
                </a:solidFill>
              </a:defRPr>
            </a:pPr>
            <a:r>
              <a:rPr sz="1050" b="1">
                <a:solidFill>
                  <a:srgbClr val="D8B4FE"/>
                </a:solidFill>
              </a:rPr>
              <a:t>TECHNICAL ARCHITECTURE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661D7A-1548-40F6-AD80-F289455FE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76300"/>
            <a:ext cx="781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FFF8E8"/>
                </a:solidFill>
              </a:defRPr>
            </a:pPr>
            <a:r>
              <a:rPr sz="3300" b="1">
                <a:solidFill>
                  <a:srgbClr val="FFF8E8"/>
                </a:solidFill>
              </a:rPr>
              <a:t>Determinism surrounds the agent.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4708C7-85BD-4DDD-8A92-F1E93E15A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19250"/>
            <a:ext cx="9239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B9AFC8"/>
                </a:solidFill>
              </a:defRPr>
            </a:pPr>
            <a:r>
              <a:rPr sz="1575" b="0">
                <a:solidFill>
                  <a:srgbClr val="B9AFC8"/>
                </a:solidFill>
              </a:rPr>
              <a:t>Input is constrained before evidence becomes a bounded, repeatable release decision.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88DF36-9B12-4C9F-B3FA-73EAE9EFA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895600"/>
            <a:ext cx="1809750" cy="198120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71023"/>
          </a:solidFill>
          <a:ln xmlns:a="http://schemas.openxmlformats.org/drawingml/2006/main" w="9525">
            <a:solidFill>
              <a:srgbClr val="38294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A88E9D-EF49-4A0B-9515-7DC28D502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861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8B4FE"/>
                </a:solidFill>
              </a:defRPr>
            </a:pPr>
            <a:r>
              <a:rPr sz="975" b="1">
                <a:solidFill>
                  <a:srgbClr val="D8B4FE"/>
                </a:solidFill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54F0FA-6DB3-4301-88D7-EC99DF879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62350"/>
            <a:ext cx="1466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FF8E8"/>
                </a:solidFill>
              </a:defRPr>
            </a:pPr>
            <a:r>
              <a:rPr sz="1725" b="1">
                <a:solidFill>
                  <a:srgbClr val="FFF8E8"/>
                </a:solidFill>
              </a:rPr>
              <a:t>INPUT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2BA730-6AF8-441B-90D6-A954D7A1B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14800"/>
            <a:ext cx="1466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URL / repo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BCP 47 locales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24E66F-6461-4CAE-A8F6-EF6C7166F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36766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ACC15"/>
                </a:solidFill>
              </a:defRPr>
            </a:pPr>
            <a:r>
              <a:rPr sz="1800" b="1">
                <a:solidFill>
                  <a:srgbClr val="FACC15"/>
                </a:solidFill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61C521-4AF2-4B8A-A515-7D4C6118B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2895600"/>
            <a:ext cx="1809750" cy="198120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71023"/>
          </a:solidFill>
          <a:ln xmlns:a="http://schemas.openxmlformats.org/drawingml/2006/main" w="9525">
            <a:solidFill>
              <a:srgbClr val="38294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7C2B1A-8D1D-44C1-883E-67E68D311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30861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8B4FE"/>
                </a:solidFill>
              </a:defRPr>
            </a:pPr>
            <a:r>
              <a:rPr sz="975" b="1">
                <a:solidFill>
                  <a:srgbClr val="D8B4FE"/>
                </a:solidFill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FD8299-14A7-463A-B40E-20F643D18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3562350"/>
            <a:ext cx="1466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FF8E8"/>
                </a:solidFill>
              </a:defRPr>
            </a:pPr>
            <a:r>
              <a:rPr sz="1725" b="1">
                <a:solidFill>
                  <a:srgbClr val="FFF8E8"/>
                </a:solidFill>
              </a:rPr>
              <a:t>DISCOVER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A3C368-7656-4CE6-A15F-0D652EA77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4114800"/>
            <a:ext cx="1466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crawl + extract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redact secrets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049B16-5121-494E-8BB2-A45161350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6766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ACC15"/>
                </a:solidFill>
              </a:defRPr>
            </a:pPr>
            <a:r>
              <a:rPr sz="1800" b="1">
                <a:solidFill>
                  <a:srgbClr val="FACC15"/>
                </a:solidFill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358DDA4-C02F-4DC2-8D08-03B0E7014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895600"/>
            <a:ext cx="1809750" cy="198120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71023"/>
          </a:solidFill>
          <a:ln xmlns:a="http://schemas.openxmlformats.org/drawingml/2006/main" w="9525">
            <a:solidFill>
              <a:srgbClr val="38294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0511C1D-BC0F-45E2-A047-8B27C007D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0861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8B4FE"/>
                </a:solidFill>
              </a:defRPr>
            </a:pPr>
            <a:r>
              <a:rPr sz="975" b="1">
                <a:solidFill>
                  <a:srgbClr val="D8B4FE"/>
                </a:solidFill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55CFBE-C57C-4293-9345-D7E38B210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562350"/>
            <a:ext cx="1466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FF8E8"/>
                </a:solidFill>
              </a:defRPr>
            </a:pPr>
            <a:r>
              <a:rPr sz="1725" b="1">
                <a:solidFill>
                  <a:srgbClr val="FFF8E8"/>
                </a:solidFill>
              </a:rPr>
              <a:t>EVIDENCE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C4E35FD-EDB1-4B70-8555-5C785B6D0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4114800"/>
            <a:ext cx="1466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linguistic + visual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Playwright + axe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6900EF8-1337-4C67-A1D7-90C31F59F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4675" y="36766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ACC15"/>
                </a:solidFill>
              </a:defRPr>
            </a:pPr>
            <a:r>
              <a:rPr sz="1800" b="1">
                <a:solidFill>
                  <a:srgbClr val="FACC15"/>
                </a:solidFill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249941B-9477-4834-BE54-7DC711C5D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2895600"/>
            <a:ext cx="1809750" cy="198120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231339"/>
          </a:solidFill>
          <a:ln xmlns:a="http://schemas.openxmlformats.org/drawingml/2006/main" w="9525">
            <a:solidFill>
              <a:srgbClr val="A855F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D115E53-3CBE-4EA9-A97A-E2713C682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30861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ACC15"/>
                </a:solidFill>
              </a:defRPr>
            </a:pPr>
            <a:r>
              <a:rPr sz="975" b="1">
                <a:solidFill>
                  <a:srgbClr val="FACC15"/>
                </a:solidFill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7CDB83F-14A2-4489-AA79-1C6783EE5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3562350"/>
            <a:ext cx="1466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FF8E8"/>
                </a:solidFill>
              </a:defRPr>
            </a:pPr>
            <a:r>
              <a:rPr sz="1725" b="1">
                <a:solidFill>
                  <a:srgbClr val="FFF8E8"/>
                </a:solidFill>
              </a:rPr>
              <a:t>REPAIR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61F23FD-9B1A-4358-A005-B6295F4C1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4114800"/>
            <a:ext cx="1466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scan + issue IDs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allowlisted diff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A0C4DE1-1826-4607-A833-0C813FBB3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6766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ACC15"/>
                </a:solidFill>
              </a:defRPr>
            </a:pPr>
            <a:r>
              <a:rPr sz="1800" b="1">
                <a:solidFill>
                  <a:srgbClr val="FACC15"/>
                </a:solidFill>
              </a:rPr>
              <a:t>→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90615D3-56C3-421D-805F-073079010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895600"/>
            <a:ext cx="1809750" cy="198120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71023"/>
          </a:solidFill>
          <a:ln xmlns:a="http://schemas.openxmlformats.org/drawingml/2006/main" w="9525">
            <a:solidFill>
              <a:srgbClr val="38294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1FB989A-DF38-4E12-84CA-35D073328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0861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8B4FE"/>
                </a:solidFill>
              </a:defRPr>
            </a:pPr>
            <a:r>
              <a:rPr sz="975" b="1">
                <a:solidFill>
                  <a:srgbClr val="D8B4FE"/>
                </a:solidFill>
              </a:rPr>
              <a:t>05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39FAD00-FAA5-4012-A239-16BAAF0C5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562350"/>
            <a:ext cx="1466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FF8E8"/>
                </a:solidFill>
              </a:defRPr>
            </a:pPr>
            <a:r>
              <a:rPr sz="1725" b="1">
                <a:solidFill>
                  <a:srgbClr val="FFF8E8"/>
                </a:solidFill>
              </a:rPr>
              <a:t>VERIFY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60894C4-A8EA-4468-9A85-DBD24D541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4114800"/>
            <a:ext cx="1466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identical tests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source regression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3B938FD-7117-4EBC-8A1F-9AD5778D4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48300"/>
            <a:ext cx="7429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86EFAC"/>
                </a:solidFill>
              </a:defRPr>
            </a:pPr>
            <a:r>
              <a:rPr sz="1950" b="1">
                <a:solidFill>
                  <a:srgbClr val="86EFAC"/>
                </a:solidFill>
              </a:rPr>
              <a:t>Provider output can explain findings. It never overrides pass/fail.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15904C2-F0D5-4549-8569-BCDA34B62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457950"/>
            <a:ext cx="10782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29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D91CB27-DA7B-4AC4-AF25-79ACC74AF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543675"/>
            <a:ext cx="4000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B9AFC8"/>
                </a:solidFill>
              </a:defRPr>
            </a:pPr>
            <a:r>
              <a:rPr sz="750" b="1">
                <a:solidFill>
                  <a:srgbClr val="B9AFC8"/>
                </a:solidFill>
              </a:rPr>
              <a:t>BHASHAFIX · CODEX HACKATHON 2026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45AA4A7-A49C-4E6A-B3C1-950E2249B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543675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B9AFC8"/>
                </a:solidFill>
              </a:defRPr>
            </a:pPr>
            <a:r>
              <a:rPr sz="750" b="1">
                <a:solidFill>
                  <a:srgbClr val="B9AFC8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204812777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B061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D8566FD-AD84-41A4-96B4-421A67209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53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D8B4FE"/>
                </a:solidFill>
              </a:defRPr>
            </a:pPr>
            <a:r>
              <a:rPr sz="1050" b="1">
                <a:solidFill>
                  <a:srgbClr val="D8B4FE"/>
                </a:solidFill>
              </a:rPr>
              <a:t>TRUST IS A PRODUCT FEATURE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8211C1-A46E-4A75-8A6E-AC9C61C7B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76300"/>
            <a:ext cx="723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FFF8E8"/>
                </a:solidFill>
              </a:defRPr>
            </a:pPr>
            <a:r>
              <a:rPr sz="3300" b="1">
                <a:solidFill>
                  <a:srgbClr val="FFF8E8"/>
                </a:solidFill>
              </a:rPr>
              <a:t>Bounded by design.</a:t>
            </a:r>
          </a:p>
        </p:txBody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b5830682e64ec8"/>
          <a:srcRect xmlns:a="http://schemas.openxmlformats.org/drawingml/2006/main" l="0" t="3275" r="0" b="327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704850" y="1809750"/>
            <a:ext cx="6553200" cy="3829050"/>
          </a:xfrm>
          <a:prstGeom xmlns:a="http://schemas.openxmlformats.org/drawingml/2006/main" prst="round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380679-4B19-43D8-ACA6-C85761471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19240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8B4FE"/>
                </a:solidFill>
              </a:defRPr>
            </a:pPr>
            <a:r>
              <a:rPr sz="975" b="1">
                <a:solidFill>
                  <a:srgbClr val="D8B4FE"/>
                </a:solidFill>
              </a:rPr>
              <a:t>URL POLICY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56B107-2710-4491-AE4B-78056B344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200275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B9AFC8"/>
                </a:solidFill>
              </a:defRPr>
            </a:pPr>
            <a:r>
              <a:rPr sz="1425" b="0">
                <a:solidFill>
                  <a:srgbClr val="B9AFC8"/>
                </a:solidFill>
              </a:rPr>
              <a:t>DNS, redirects, limits, private-network blocks.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625C5E-070B-452C-B130-3ED0E1856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705100"/>
            <a:ext cx="333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29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85692D-B361-4A65-9C80-8ADB8E277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8384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8B4FE"/>
                </a:solidFill>
              </a:defRPr>
            </a:pPr>
            <a:r>
              <a:rPr sz="975" b="1">
                <a:solidFill>
                  <a:srgbClr val="D8B4FE"/>
                </a:solidFill>
              </a:rPr>
              <a:t>REPAIR POLICY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BC4293-E020-46CF-82C9-6D8C01558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114675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B9AFC8"/>
                </a:solidFill>
              </a:defRPr>
            </a:pPr>
            <a:r>
              <a:rPr sz="1425" b="0">
                <a:solidFill>
                  <a:srgbClr val="B9AFC8"/>
                </a:solidFill>
              </a:rPr>
              <a:t>Root confinement, symlink rejection, allowlist.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714ABB-C82D-484D-AB4F-6B16871AD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619500"/>
            <a:ext cx="333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29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7C6770-B4B8-4CD0-95AA-A00940DF3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7528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8B4FE"/>
                </a:solidFill>
              </a:defRPr>
            </a:pPr>
            <a:r>
              <a:rPr sz="975" b="1">
                <a:solidFill>
                  <a:srgbClr val="D8B4FE"/>
                </a:solidFill>
              </a:rPr>
              <a:t>PROOF POLICY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C53B32-CA8B-49A8-8D4E-66673FDFB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029075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B9AFC8"/>
                </a:solidFill>
              </a:defRPr>
            </a:pPr>
            <a:r>
              <a:rPr sz="1425" b="0">
                <a:solidFill>
                  <a:srgbClr val="B9AFC8"/>
                </a:solidFill>
              </a:rPr>
              <a:t>Identical predicate plus regression checks.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70BC75-B367-408A-81ED-8A63AACA0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533900"/>
            <a:ext cx="333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29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99A0DA-60AF-4E11-B0BA-4D82E8742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6672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ACC15"/>
                </a:solidFill>
              </a:defRPr>
            </a:pPr>
            <a:r>
              <a:rPr sz="975" b="1">
                <a:solidFill>
                  <a:srgbClr val="FACC15"/>
                </a:solidFill>
              </a:rPr>
              <a:t>NO-AI MODE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CA5CEB-D4BB-4FF1-8A24-39EF1EA87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943475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FF8E8"/>
                </a:solidFill>
              </a:defRPr>
            </a:pPr>
            <a:r>
              <a:rPr sz="1425" b="1">
                <a:solidFill>
                  <a:srgbClr val="FFF8E8"/>
                </a:solidFill>
              </a:rPr>
              <a:t>No model key for deterministic replay.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7486BE-A0C1-42A1-A9FB-618982913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457950"/>
            <a:ext cx="10782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29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BAE4048-3464-43D1-8FD3-5DF10CF9B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543675"/>
            <a:ext cx="4000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B9AFC8"/>
                </a:solidFill>
              </a:defRPr>
            </a:pPr>
            <a:r>
              <a:rPr sz="750" b="1">
                <a:solidFill>
                  <a:srgbClr val="B9AFC8"/>
                </a:solidFill>
              </a:rPr>
              <a:t>BHASHAFIX · CODEX HACKATHON 2026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A06D3B1-97F2-473D-8D70-B03410ADD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543675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B9AFC8"/>
                </a:solidFill>
              </a:defRPr>
            </a:pPr>
            <a:r>
              <a:rPr sz="750" b="1">
                <a:solidFill>
                  <a:srgbClr val="B9AFC8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204153686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B061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3282B9E-68FB-46F7-9BBC-DE1B67A2B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53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D8B4FE"/>
                </a:solidFill>
              </a:defRPr>
            </a:pPr>
            <a:r>
              <a:rPr sz="1050" b="1">
                <a:solidFill>
                  <a:srgbClr val="D8B4FE"/>
                </a:solidFill>
              </a:rPr>
              <a:t>OPEN-SOURCE ADOPTION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45D3B1-76D7-49E3-ADAD-288E06EFF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76300"/>
            <a:ext cx="8858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FFF8E8"/>
                </a:solidFill>
              </a:defRPr>
            </a:pPr>
            <a:r>
              <a:rPr sz="3300" b="1">
                <a:solidFill>
                  <a:srgbClr val="FFF8E8"/>
                </a:solidFill>
              </a:rPr>
              <a:t>Start useful. Expand without faking it.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E4ADC4-4868-4297-B8D7-43E058D2F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57350"/>
            <a:ext cx="781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B9AFC8"/>
                </a:solidFill>
              </a:defRPr>
            </a:pPr>
            <a:r>
              <a:rPr sz="1650" b="0">
                <a:solidFill>
                  <a:srgbClr val="B9AFC8"/>
                </a:solidFill>
              </a:rPr>
              <a:t>Apache-2.0 core, no paid database, no mandatory provider.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F9CD83-D136-421B-A6E8-32337D8B8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81300"/>
            <a:ext cx="31432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211535"/>
          </a:solidFill>
          <a:ln xmlns:a="http://schemas.openxmlformats.org/drawingml/2006/main" w="9525">
            <a:solidFill>
              <a:srgbClr val="A855F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7BAA48-26D6-4BF4-8E26-57336B268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099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ACC15"/>
                </a:solidFill>
              </a:defRPr>
            </a:pPr>
            <a:r>
              <a:rPr sz="975" b="1">
                <a:solidFill>
                  <a:srgbClr val="FACC15"/>
                </a:solidFill>
              </a:rPr>
              <a:t>NOW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D8C1C9-0CCB-4AEE-B72C-7F0F4A4F9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505200"/>
            <a:ext cx="266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FFF8E8"/>
                </a:solidFill>
              </a:defRPr>
            </a:pPr>
            <a:r>
              <a:rPr sz="2100" b="1">
                <a:solidFill>
                  <a:srgbClr val="FFF8E8"/>
                </a:solidFill>
              </a:rPr>
              <a:t>Verified MVP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32E02F-2A93-402A-A822-A25E40731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248150"/>
            <a:ext cx="2571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Next.js + URL scan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10→0 AtlasPay proof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web · CLI · MCP · CI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B2B050-CBF2-417C-B379-59A133EB0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771900"/>
            <a:ext cx="457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FACC15"/>
                </a:solidFill>
              </a:defRPr>
            </a:pPr>
            <a:r>
              <a:rPr sz="1875" b="1">
                <a:solidFill>
                  <a:srgbClr val="FACC15"/>
                </a:solidFill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822700-E57D-400A-9D19-678DEA767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048000"/>
            <a:ext cx="31432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171023"/>
          </a:solidFill>
          <a:ln xmlns:a="http://schemas.openxmlformats.org/drawingml/2006/main" w="9525">
            <a:solidFill>
              <a:srgbClr val="38294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A4B062-A4BE-4221-BC78-68174533A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2766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8B4FE"/>
                </a:solidFill>
              </a:defRPr>
            </a:pPr>
            <a:r>
              <a:rPr sz="975" b="1">
                <a:solidFill>
                  <a:srgbClr val="D8B4FE"/>
                </a:solidFill>
              </a:rPr>
              <a:t>NEXT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C931A5-2C69-4E12-AC33-8E8854966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771900"/>
            <a:ext cx="266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FFF8E8"/>
                </a:solidFill>
              </a:defRPr>
            </a:pPr>
            <a:r>
              <a:rPr sz="2100" b="1">
                <a:solidFill>
                  <a:srgbClr val="FFF8E8"/>
                </a:solidFill>
              </a:rPr>
              <a:t>Broader evidence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55BF2E-7FFA-4451-B402-36185DE13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514850"/>
            <a:ext cx="2571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Firefox + WebKit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provider adapters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glossary + memory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04701C-FDA4-45A7-AF09-11FC29AA6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4038600"/>
            <a:ext cx="457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FACC15"/>
                </a:solidFill>
              </a:defRPr>
            </a:pPr>
            <a:r>
              <a:rPr sz="1875" b="1">
                <a:solidFill>
                  <a:srgbClr val="FACC15"/>
                </a:solidFill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2AA5F26-95C0-4509-BA9F-007A8A6D6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048000"/>
            <a:ext cx="31432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171023"/>
          </a:solidFill>
          <a:ln xmlns:a="http://schemas.openxmlformats.org/drawingml/2006/main" w="9525">
            <a:solidFill>
              <a:srgbClr val="38294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3B310F9-3466-446C-B1CA-47D0F8DB9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2766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8B4FE"/>
                </a:solidFill>
              </a:defRPr>
            </a:pPr>
            <a:r>
              <a:rPr sz="975" b="1">
                <a:solidFill>
                  <a:srgbClr val="D8B4FE"/>
                </a:solidFill>
              </a:rPr>
              <a:t>LATER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9494B0-B9AF-4040-9A5B-172B37A31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771900"/>
            <a:ext cx="266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FFF8E8"/>
                </a:solidFill>
              </a:defRPr>
            </a:pPr>
            <a:r>
              <a:rPr sz="2100" b="1">
                <a:solidFill>
                  <a:srgbClr val="FFF8E8"/>
                </a:solidFill>
              </a:rPr>
              <a:t>Enterprise scale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0C71B80-9126-4431-94D1-A9D6CB536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514850"/>
            <a:ext cx="2571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teams · SSO · remote MCP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isolated workers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policy administration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54E6DC1-56BA-46E7-BAD3-8AC4CF9D0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457950"/>
            <a:ext cx="10782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29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67F860B-74C1-46C7-A3AE-82B75344B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543675"/>
            <a:ext cx="4000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B9AFC8"/>
                </a:solidFill>
              </a:defRPr>
            </a:pPr>
            <a:r>
              <a:rPr sz="750" b="1">
                <a:solidFill>
                  <a:srgbClr val="B9AFC8"/>
                </a:solidFill>
              </a:rPr>
              <a:t>BHASHAFIX · CODEX HACKATHON 2026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C5C4962-00A3-4291-ACB6-CE2A859D3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543675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B9AFC8"/>
                </a:solidFill>
              </a:defRPr>
            </a:pPr>
            <a:r>
              <a:rPr sz="750" b="1">
                <a:solidFill>
                  <a:srgbClr val="B9AFC8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86352354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B061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2b16ca829440a6"/>
          <a:srcRect xmlns:a="http://schemas.openxmlformats.org/drawingml/2006/main" l="6500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F9F924-AF62-4EB5-901C-504B8D1B0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4314B6-AF54-43A5-892D-A4034511D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33400"/>
            <a:ext cx="5619750" cy="5715000"/>
          </a:xfrm>
          <a:prstGeom xmlns:a="http://schemas.openxmlformats.org/drawingml/2006/main" prst="roundRect">
            <a:avLst>
              <a:gd name="adj" fmla="val 2712"/>
            </a:avLst>
          </a:prstGeom>
          <a:solidFill xmlns:a="http://schemas.openxmlformats.org/drawingml/2006/main">
            <a:srgbClr val="0B0613"/>
          </a:solidFill>
          <a:ln xmlns:a="http://schemas.openxmlformats.org/drawingml/2006/main" w="9525">
            <a:solidFill>
              <a:srgbClr val="38294B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688F4C-ACCC-4DF6-9C2F-6531F7D0C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895350"/>
            <a:ext cx="4095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200" b="1">
                <a:solidFill>
                  <a:srgbClr val="FFF8E8"/>
                </a:solidFill>
              </a:defRPr>
            </a:pPr>
            <a:r>
              <a:rPr sz="4200" b="1">
                <a:solidFill>
                  <a:srgbClr val="FFF8E8"/>
                </a:solidFill>
              </a:rPr>
              <a:t>BhashaFix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8D4A83-9389-4735-9AED-AAFD035C8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43100"/>
            <a:ext cx="44767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FFF8E8"/>
                </a:solidFill>
              </a:defRPr>
            </a:pPr>
            <a:r>
              <a:rPr sz="3450" b="1">
                <a:solidFill>
                  <a:srgbClr val="FFF8E8"/>
                </a:solidFill>
              </a:rPr>
              <a:t>Test every language.</a:t>
            </a:r>
          </a:p>
          <a:p xmlns:a="http://schemas.openxmlformats.org/drawingml/2006/main">
            <a:pPr algn="l">
              <a:buNone/>
              <a:defRPr sz="3450" b="1">
                <a:solidFill>
                  <a:srgbClr val="FFF8E8"/>
                </a:solidFill>
              </a:defRPr>
            </a:pPr>
            <a:r>
              <a:rPr sz="3450" b="1">
                <a:solidFill>
                  <a:srgbClr val="FFF8E8"/>
                </a:solidFill>
              </a:rPr>
              <a:t>Prove every release.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6A0A56-89CD-46E9-A46B-9191212D3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52800"/>
            <a:ext cx="4667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FACC15"/>
                </a:solidFill>
              </a:defRPr>
            </a:pPr>
            <a:r>
              <a:rPr sz="2325" b="1">
                <a:solidFill>
                  <a:srgbClr val="FACC15"/>
                </a:solidFill>
              </a:rPr>
              <a:t>Live now:</a:t>
            </a:r>
          </a:p>
          <a:p xmlns:a="http://schemas.openxmlformats.org/drawingml/2006/main">
            <a:pPr algn="l">
              <a:buNone/>
              <a:defRPr sz="2325" b="1">
                <a:solidFill>
                  <a:srgbClr val="FACC15"/>
                </a:solidFill>
              </a:defRPr>
            </a:pPr>
            <a:r>
              <a:rPr sz="2325" b="1">
                <a:solidFill>
                  <a:srgbClr val="FACC15"/>
                </a:solidFill>
              </a:rPr>
              <a:t>bhashafix.vercel.app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71147E-5D2E-416D-9984-6A4E1782D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810125"/>
            <a:ext cx="2857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6EFA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AD3D44-225F-4CFE-8535-4674E743C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067300"/>
            <a:ext cx="3810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86EFAC"/>
                </a:solidFill>
              </a:defRPr>
            </a:pPr>
            <a:r>
              <a:rPr sz="1650" b="1">
                <a:solidFill>
                  <a:srgbClr val="86EFAC"/>
                </a:solidFill>
              </a:rPr>
              <a:t>10 → 0 · EN-GB PASS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0B026B-600C-443D-A10D-5A472DE61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810250"/>
            <a:ext cx="333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8B4FE"/>
                </a:solidFill>
              </a:defRPr>
            </a:pPr>
            <a:r>
              <a:rPr sz="975" b="1">
                <a:solidFill>
                  <a:srgbClr val="D8B4FE"/>
                </a:solidFill>
              </a:rPr>
              <a:t>OPEN SOURCE · APACHE-2.0</a:t>
            </a:r>
          </a:p>
        </p:txBody>
      </p:sp>
    </p:spTree>
    <p:extLst>
      <p:ext uri="{BB962C8B-B14F-4D97-AF65-F5344CB8AC3E}">
        <p14:creationId xmlns:p14="http://schemas.microsoft.com/office/powerpoint/2010/main" val="96616866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2026-07-29T19:48:58.0390000Z</dcterms:created>
  <dcterms:modified xsi:type="dcterms:W3CDTF">2026-07-29T19:48:58.0390000Z</dcterms:modified>
</coreProperties>
</file>