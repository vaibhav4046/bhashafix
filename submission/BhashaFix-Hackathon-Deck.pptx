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db1dccab8664561" /><Relationship Type="http://schemas.openxmlformats.org/officeDocument/2006/relationships/extended-properties" Target="/docProps/app.xml" Id="R09b8c3ba1ddb441d" /><Relationship Type="http://schemas.openxmlformats.org/officeDocument/2006/relationships/officeDocument" Target="/ppt/presentation.xml" Id="Rb83bf58d50f3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34a9cc449eb48a0"/>
  </p:sldMasterIdLst>
  <p:notesMasterIdLst>
    <p:notesMasterId xmlns:r="http://schemas.openxmlformats.org/officeDocument/2006/relationships" r:id="R0d888b51592b47b5"/>
  </p:notesMasterIdLst>
  <p:sldIdLst>
    <p:sldId xmlns:r="http://schemas.openxmlformats.org/officeDocument/2006/relationships" id="256" r:id="Rb483c422a3074347"/>
    <p:sldId xmlns:r="http://schemas.openxmlformats.org/officeDocument/2006/relationships" id="257" r:id="R8143551bd995461d"/>
    <p:sldId xmlns:r="http://schemas.openxmlformats.org/officeDocument/2006/relationships" id="258" r:id="R67a58db635cb4cbd"/>
    <p:sldId xmlns:r="http://schemas.openxmlformats.org/officeDocument/2006/relationships" id="259" r:id="R340e772ba044450c"/>
    <p:sldId xmlns:r="http://schemas.openxmlformats.org/officeDocument/2006/relationships" id="260" r:id="Rf07028f518c54e4c"/>
    <p:sldId xmlns:r="http://schemas.openxmlformats.org/officeDocument/2006/relationships" id="261" r:id="R64b57b3617eb48b9"/>
    <p:sldId xmlns:r="http://schemas.openxmlformats.org/officeDocument/2006/relationships" id="262" r:id="R7694ac62762c4218"/>
    <p:sldId xmlns:r="http://schemas.openxmlformats.org/officeDocument/2006/relationships" id="263" r:id="R3d526ec57d914f38"/>
    <p:sldId xmlns:r="http://schemas.openxmlformats.org/officeDocument/2006/relationships" id="264" r:id="R483fb221306249ad"/>
    <p:sldId xmlns:r="http://schemas.openxmlformats.org/officeDocument/2006/relationships" id="265" r:id="R9a7442eae37044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bdfa34c2104896" /><Relationship Type="http://schemas.openxmlformats.org/officeDocument/2006/relationships/slideMaster" Target="/ppt/slideMasters/slideMaster1.xml" Id="Rf34a9cc449eb48a0" /><Relationship Type="http://schemas.openxmlformats.org/officeDocument/2006/relationships/notesMaster" Target="/ppt/notesMasters/notesMaster1.xml" Id="R0d888b51592b47b5" /><Relationship Type="http://schemas.openxmlformats.org/officeDocument/2006/relationships/presProps" Target="/ppt/presProps.xml" Id="Rd8c4fce3b4854e0b" /><Relationship Type="http://schemas.openxmlformats.org/officeDocument/2006/relationships/tableStyles" Target="/ppt/tableStyles.xml" Id="Rea6595b551294576" /><Relationship Type="http://schemas.openxmlformats.org/officeDocument/2006/relationships/slide" Target="/ppt/slides/slide1.xml" Id="Rb483c422a3074347" /><Relationship Type="http://schemas.openxmlformats.org/officeDocument/2006/relationships/slide" Target="/ppt/slides/slide2.xml" Id="R8143551bd995461d" /><Relationship Type="http://schemas.openxmlformats.org/officeDocument/2006/relationships/slide" Target="/ppt/slides/slide3.xml" Id="R67a58db635cb4cbd" /><Relationship Type="http://schemas.openxmlformats.org/officeDocument/2006/relationships/slide" Target="/ppt/slides/slide4.xml" Id="R340e772ba044450c" /><Relationship Type="http://schemas.openxmlformats.org/officeDocument/2006/relationships/slide" Target="/ppt/slides/slide5.xml" Id="Rf07028f518c54e4c" /><Relationship Type="http://schemas.openxmlformats.org/officeDocument/2006/relationships/slide" Target="/ppt/slides/slide6.xml" Id="R64b57b3617eb48b9" /><Relationship Type="http://schemas.openxmlformats.org/officeDocument/2006/relationships/slide" Target="/ppt/slides/slide7.xml" Id="R7694ac62762c4218" /><Relationship Type="http://schemas.openxmlformats.org/officeDocument/2006/relationships/slide" Target="/ppt/slides/slide8.xml" Id="R3d526ec57d914f38" /><Relationship Type="http://schemas.openxmlformats.org/officeDocument/2006/relationships/slide" Target="/ppt/slides/slide9.xml" Id="R483fb221306249ad" /><Relationship Type="http://schemas.openxmlformats.org/officeDocument/2006/relationships/slide" Target="/ppt/slides/slide10.xml" Id="R9a7442eae37044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a8867cb40642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e9031c47a4744eb" /><Relationship Type="http://schemas.openxmlformats.org/officeDocument/2006/relationships/notesMaster" Target="/ppt/notesMasters/notesMaster1.xml" Id="Rd045d46c84384c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96f09bff97441f4" /><Relationship Type="http://schemas.openxmlformats.org/officeDocument/2006/relationships/notesMaster" Target="/ppt/notesMasters/notesMaster1.xml" Id="Rfcfb42f051e84de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067f73b50e84630" /><Relationship Type="http://schemas.openxmlformats.org/officeDocument/2006/relationships/notesMaster" Target="/ppt/notesMasters/notesMaster1.xml" Id="Re11c3df44a04446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c7b73bde1042ee" /><Relationship Type="http://schemas.openxmlformats.org/officeDocument/2006/relationships/notesMaster" Target="/ppt/notesMasters/notesMaster1.xml" Id="R710f6d9a3edc4e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acad0e91f454d19" /><Relationship Type="http://schemas.openxmlformats.org/officeDocument/2006/relationships/notesMaster" Target="/ppt/notesMasters/notesMaster1.xml" Id="R8f9f52edf7d047c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7696571eef4c43" /><Relationship Type="http://schemas.openxmlformats.org/officeDocument/2006/relationships/notesMaster" Target="/ppt/notesMasters/notesMaster1.xml" Id="R15c1059f9bc54d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4d20aefe2241ce" /><Relationship Type="http://schemas.openxmlformats.org/officeDocument/2006/relationships/notesMaster" Target="/ppt/notesMasters/notesMaster1.xml" Id="R49b8d91c04d845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457c5183f10415b" /><Relationship Type="http://schemas.openxmlformats.org/officeDocument/2006/relationships/notesMaster" Target="/ppt/notesMasters/notesMaster1.xml" Id="R1719d7e5e29749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bf3dd28e70244cd" /><Relationship Type="http://schemas.openxmlformats.org/officeDocument/2006/relationships/notesMaster" Target="/ppt/notesMasters/notesMaster1.xml" Id="R275cd53375cf4b8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ae6741193a43f2" /><Relationship Type="http://schemas.openxmlformats.org/officeDocument/2006/relationships/notesMaster" Target="/ppt/notesMasters/notesMaster1.xml" Id="R7c0b50a527a1458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submission/screenshots/03-landing-mobile.png.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submission/screenshots/07-issue-evidence.png.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Official MCP Inspector and MCPC receipts: artifacts/mcp-inspector-receipt.json and artifacts/mcpc-smoke/receipt.json.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submission/screenshots/05-proof-report.png.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submission/screenshots/06-bounded-repair.png.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No external visual asset used.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BhashaFix deterministic engine and release receipt, generated 30 July 2026.</a:t>
            </a:r>
          </a:p>
          <a:p xmlns:a="http://schemas.openxmlformats.org/drawingml/2006/main">
            <a:r>
              <a:t>- Product claims are implemented and tested in the local BhashaFix repository.</a:t>
            </a:r>
          </a:p>
          <a:p xmlns:a="http://schemas.openxmlformats.org/drawingml/2006/main">
            <a:r>
              <a:t>- Actual local Playwright/browser screenshot: submission/screenshots/04-scan-workspace.png.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f82757908147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5e3d3e3d8c44aa4" /><Relationship Type="http://schemas.openxmlformats.org/officeDocument/2006/relationships/slideLayout" Target="/ppt/slideLayouts/slideLayout1.xml" Id="Rda390392cc6941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a390392cc6941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a67e29d8e14bf9" /><Relationship Type="http://schemas.openxmlformats.org/officeDocument/2006/relationships/image" Target="/ppt/media/image.png" Id="Rbc7432cf9ad44a29" /><Relationship Type="http://schemas.openxmlformats.org/officeDocument/2006/relationships/notesSlide" Target="/ppt/notesSlides/notesSlide1.xml" Id="Reac6dea81e6a44c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5aa5fe2b842a2" /><Relationship Type="http://schemas.openxmlformats.org/officeDocument/2006/relationships/image" Target="/ppt/media/image2.png" Id="R0e88ea2c879a41e5" /><Relationship Type="http://schemas.openxmlformats.org/officeDocument/2006/relationships/notesSlide" Target="/ppt/notesSlides/notesSlide2.xml" Id="Ra313c44ee7db43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627fca8b0d40a6" /><Relationship Type="http://schemas.openxmlformats.org/officeDocument/2006/relationships/notesSlide" Target="/ppt/notesSlides/notesSlide3.xml" Id="R669d21e76b3b429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3a6c72739a4544" /><Relationship Type="http://schemas.openxmlformats.org/officeDocument/2006/relationships/image" Target="/ppt/media/image.jpeg" Id="R7bac4c1b98a749bc" /><Relationship Type="http://schemas.openxmlformats.org/officeDocument/2006/relationships/notesSlide" Target="/ppt/notesSlides/notesSlide4.xml" Id="Rdef5547a96df4b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f3cdeedbb4769" /><Relationship Type="http://schemas.openxmlformats.org/officeDocument/2006/relationships/notesSlide" Target="/ppt/notesSlides/notesSlide5.xml" Id="R16bd9f5987d9482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20723ef3745e7" /><Relationship Type="http://schemas.openxmlformats.org/officeDocument/2006/relationships/image" Target="/ppt/media/image3.png" Id="R1cbab173572f4985" /><Relationship Type="http://schemas.openxmlformats.org/officeDocument/2006/relationships/notesSlide" Target="/ppt/notesSlides/notesSlide6.xml" Id="R4d80f8ac98c6494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82329c034a40a6" /><Relationship Type="http://schemas.openxmlformats.org/officeDocument/2006/relationships/notesSlide" Target="/ppt/notesSlides/notesSlide7.xml" Id="R8b9664dbc0a74f1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beeeab484e4f28" /><Relationship Type="http://schemas.openxmlformats.org/officeDocument/2006/relationships/image" Target="/ppt/media/image2.jpeg" Id="R7c1804e7e1ff4ce5" /><Relationship Type="http://schemas.openxmlformats.org/officeDocument/2006/relationships/notesSlide" Target="/ppt/notesSlides/notesSlide8.xml" Id="R3c8870a349d6484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5725e1f244483" /><Relationship Type="http://schemas.openxmlformats.org/officeDocument/2006/relationships/notesSlide" Target="/ppt/notesSlides/notesSlide9.xml" Id="Ra84daa59862a465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7e0989f5e4fb9" /><Relationship Type="http://schemas.openxmlformats.org/officeDocument/2006/relationships/image" Target="/ppt/media/image.png" Id="R669842d052d24b7d" /><Relationship Type="http://schemas.openxmlformats.org/officeDocument/2006/relationships/notesSlide" Target="/ppt/notesSlides/notesSlide10.xml" Id="Rdc34786d31e84b4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7432cf9ad44a29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Every viewport.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Evidence before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release.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20DA23-3208-4EC3-910B-0836FD23F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GLOBAL FAILURES ARE ENGINEERING FAILURES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4787AE-E088-4C25-8EBE-B5699D51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19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Translation passed.</a:t>
            </a:r>
          </a:p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Release still failed.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5A2C65-9754-434D-82FC-E021361F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Ten reproducible defects across scripts, routes and viewports.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01C819-28E4-44F8-93EF-3351916D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97BC79-29BD-4E27-ACFD-4448426D3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314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Visual 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FA333B-78E0-42DD-8264-4E1030176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6099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Glyphs clip; expanded controls overflow.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4DB0F3-9675-4BBF-94D7-3CA16F1A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7670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3542A4-1E6E-49C8-A5B4-0C217378D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576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Locale semantics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E3D24-EB8F-4694-81B7-A4DC0F83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5292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RTL, icon order and page language fail.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F0AA81-75C6-402E-8FAE-1E2DCCCA5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400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03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2BDD3-218D-4F38-ADC9-BFC4DF45F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00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Content integrity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F506B-7A1E-43B9-9925-1196DB69B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95875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B9AFC8"/>
                </a:solidFill>
              </a:defRPr>
            </a:pPr>
            <a:r>
              <a:rPr sz="1125" b="0">
                <a:solidFill>
                  <a:srgbClr val="B9AFC8"/>
                </a:solidFill>
              </a:rPr>
              <a:t>Keys, fonts, wrapping, tokens and terms fail.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D613A5-242B-4F69-B324-813761547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0050"/>
            <a:ext cx="4057650" cy="5772150"/>
          </a:xfrm>
          <a:prstGeom xmlns:a="http://schemas.openxmlformats.org/drawingml/2006/main" prst="roundRect">
            <a:avLst>
              <a:gd name="adj" fmla="val 375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88ea2c879a41e5"/>
          <a:srcRect xmlns:a="http://schemas.openxmlformats.org/drawingml/2006/main" l="0" t="10366" r="0" b="103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734300" y="666750"/>
            <a:ext cx="3067050" cy="5257800"/>
          </a:xfrm>
          <a:prstGeom xmlns:a="http://schemas.openxmlformats.org/drawingml/2006/main" prst="round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B3821-E4F6-4881-87D1-4154C923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3BFED-70B4-48CC-A774-70D759D37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EADB5CD-D72B-42DB-84AF-0A7233C59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662614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B37DDC-1575-4714-A5DB-F4B61F9C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IS NOT THE RELEASE GATE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26C784E-7318-483B-9CE3-59A86BE0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95350"/>
            <a:ext cx="685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Strings are only the input.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93636D-D823-4517-8786-A97E1BE7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954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B9AFC8"/>
                </a:solidFill>
              </a:defRPr>
            </a:pPr>
            <a:r>
              <a:rPr sz="1800" b="0">
                <a:solidFill>
                  <a:srgbClr val="B9AFC8"/>
                </a:solidFill>
              </a:rPr>
              <a:t>The missing layer is the rendered, accessible product.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78DBF-998D-4458-B871-13E4A988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47950"/>
            <a:ext cx="10744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D03F90-2E23-4234-A6C5-0259F872A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9560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TRANSLATION PIPELINE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EDFD79-6B6B-41D3-A649-BDEF11C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95600"/>
            <a:ext cx="3048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ACC15"/>
                </a:solidFill>
              </a:defRPr>
            </a:pPr>
            <a:r>
              <a:rPr sz="1050" b="1">
                <a:solidFill>
                  <a:srgbClr val="FACC15"/>
                </a:solidFill>
              </a:rPr>
              <a:t>BHASHAFIX HARNESS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E33AA-E84C-4CBE-AAFD-3C5C52A7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400050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Translate strings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Manage keys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Choose wording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E53D0-1D4B-4EA0-A171-508498153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752850"/>
            <a:ext cx="457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FACC15"/>
                </a:solidFill>
              </a:defRPr>
            </a:pPr>
            <a:r>
              <a:rPr sz="28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1B383A-3810-42F4-8A1A-AFE1DF51C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333750"/>
            <a:ext cx="4381500" cy="2047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Render + stress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Measure evidence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Repair safely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FFF8E8"/>
                </a:solidFill>
              </a:defRPr>
            </a:pPr>
            <a:r>
              <a:rPr sz="2550" b="1">
                <a:solidFill>
                  <a:srgbClr val="FFF8E8"/>
                </a:solidFill>
              </a:rPr>
              <a:t>Prove release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7FB96F-1712-45CC-9BAC-77137B8EE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495925"/>
            <a:ext cx="447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86EFAC"/>
                </a:solidFill>
              </a:defRPr>
            </a:pPr>
            <a:r>
              <a:rPr sz="1350" b="1">
                <a:solidFill>
                  <a:srgbClr val="86EFAC"/>
                </a:solidFill>
              </a:rPr>
              <a:t>Models can recommend. Only deterministic predicates can accept.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B7BC94-7CC9-4DB3-9EB4-C74320AD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855FCF-7000-44F6-974A-D2C138893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5FF9EE-B8FD-4AE2-B8D8-60A12F587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68162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FD0AE7-540A-4209-84F9-D870E60D7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PRODUCT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254-9F8E-43D9-9193-7C54B410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38200"/>
            <a:ext cx="6572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Eleven stages. One proof loop.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ac4c1b98a749bc"/>
          <a:srcRect xmlns:a="http://schemas.openxmlformats.org/drawingml/2006/main" l="0" t="6924" r="0" b="69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4591050" y="1676400"/>
            <a:ext cx="6896100" cy="37147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AAB12-E6EC-4C88-991A-866461CF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907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13859C-6413-4B0C-93B1-8E3FF57BC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383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32F585-C0AD-418E-92EB-AD7CC41DB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002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CE1000-BE7B-45D1-805D-5709EE42A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793B77-AEFD-480F-ADB5-9A1017291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669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384604-CD63-4CA0-8A42-839CB27B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4288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80D0A1-AAEF-4F35-94D4-E22B56CBF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3DCD79-0EE8-4D92-B2AC-992EB6EC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956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6FA617-926F-4CD2-B045-CE69A0F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575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Diagnose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70BEBC-D5D2-4800-97F7-58B5B69B5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766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F01A81-D4A6-4796-9013-C5E86298C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242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589BF1-642F-44EE-80F1-FB8F5F048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861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162F2-4A3C-4DC4-AE19-27837F0C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FE86D3E-193F-4DBD-A13B-9928689D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5292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86EFAC"/>
                </a:solidFill>
              </a:defRPr>
            </a:pPr>
            <a:r>
              <a:rPr sz="975" b="1">
                <a:solidFill>
                  <a:srgbClr val="86EFAC"/>
                </a:solidFill>
              </a:rPr>
              <a:t>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A25F48-040D-44E1-ABA2-5E2206B30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14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A3332C-57BB-425B-8CD2-6E629A682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33950"/>
            <a:ext cx="3238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FACC1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6B3815-5466-4BC1-BBF2-2A4E55DE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81575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0B0613"/>
                </a:solidFill>
              </a:defRPr>
            </a:pPr>
            <a:r>
              <a:rPr sz="975" b="1">
                <a:solidFill>
                  <a:srgbClr val="0B0613"/>
                </a:solidFill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15AFC2-0F68-4EA6-A71D-514CDF4A2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94347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8E8"/>
                </a:solidFill>
              </a:defRPr>
            </a:pPr>
            <a:r>
              <a:rPr sz="1575" b="1">
                <a:solidFill>
                  <a:srgbClr val="FFF8E8"/>
                </a:solidFill>
              </a:rPr>
              <a:t>Prove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1E32B2-3491-457B-B25F-48DC662A3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340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Every issue keeps route, locale, viewport, browser, selector, measurement and predicate.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C66F09-E1B5-496F-96F3-0A0CAEB13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B95787F-C8B8-4BB0-BB15-9E488C8A7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B60A6E-8802-4684-9487-F8615C0E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5195719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ONE ENGINE · FOUR SURFACES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The same truth everywhere.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Shared TypeScript core. Strict schemas. One repair and verification contract.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WEB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visual review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proof downloads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CLI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stable exits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JSON mode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MCP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18 tools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Inspector + MCPC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severity gate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artifacts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CORE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locale engines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repair + verify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General agents call BhashaFix instead of guessing whether localisation is complete.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99D63-21B6-419B-8667-7DCCE3B4C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THE VERIFIED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0FFCB-9851-41EA-9BF6-ACB483D14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FB7185"/>
                </a:solidFill>
              </a:defRPr>
            </a:pPr>
            <a:r>
              <a:rPr sz="9450" b="1">
                <a:solidFill>
                  <a:srgbClr val="FB7185"/>
                </a:solidFill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840A6F-D013-448C-B8AE-FEBBC3FC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24000"/>
            <a:ext cx="857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ACC15"/>
                </a:solidFill>
              </a:defRPr>
            </a:pPr>
            <a:r>
              <a:rPr sz="465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37FF0B-BBB4-4E3E-9243-F78804267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123950"/>
            <a:ext cx="1714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450" b="1">
                <a:solidFill>
                  <a:srgbClr val="86EFAC"/>
                </a:solidFill>
              </a:defRPr>
            </a:pPr>
            <a:r>
              <a:rPr sz="9450" b="1">
                <a:solidFill>
                  <a:srgbClr val="86EFAC"/>
                </a:solidFill>
              </a:rPr>
              <a:t>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2D7217-20D7-4E73-9A9B-7CEC2A974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FF8E8"/>
                </a:solidFill>
              </a:defRPr>
            </a:pPr>
            <a:r>
              <a:rPr sz="1875" b="1">
                <a:solidFill>
                  <a:srgbClr val="FFF8E8"/>
                </a:solidFill>
              </a:rPr>
              <a:t>blocking failures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8D744-33E1-4C50-BEF2-1A40EF60B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9009F1-08E2-46C1-B863-3D3863C4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09950"/>
            <a:ext cx="1524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86EFAC"/>
                </a:solidFill>
              </a:defRPr>
            </a:pPr>
            <a:r>
              <a:rPr sz="2100" b="1">
                <a:solidFill>
                  <a:srgbClr val="86EFAC"/>
                </a:solidFill>
              </a:rPr>
              <a:t>PASS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5FA740-F3FC-4E11-8D49-3D507D7A4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52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Changed source 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697FDE-BD1F-4084-B988-9DC020045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03860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B95658-6481-490A-BA4F-6CF58B207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B9AFC8"/>
                </a:solidFill>
              </a:defRPr>
            </a:pPr>
            <a:r>
              <a:rPr sz="1350" b="0">
                <a:solidFill>
                  <a:srgbClr val="B9AFC8"/>
                </a:solidFill>
              </a:rPr>
              <a:t>Browser console errors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A6C57E1-4937-498C-839B-2DC972BF6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4743450"/>
            <a:ext cx="152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8E8"/>
                </a:solidFill>
              </a:defRPr>
            </a:pPr>
            <a:r>
              <a:rPr sz="2700" b="1">
                <a:solidFill>
                  <a:srgbClr val="FFF8E8"/>
                </a:solidFill>
              </a:rPr>
              <a:t>0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cbab173572f4985"/>
          <a:srcRect xmlns:a="http://schemas.openxmlformats.org/drawingml/2006/main" l="0" t="51" r="0" b="5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19700" y="1047750"/>
            <a:ext cx="6267450" cy="3914775"/>
          </a:xfrm>
          <a:prstGeom xmlns:a="http://schemas.openxmlformats.org/drawingml/2006/main" prst="round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8D0987-F9A6-41AF-B009-B83B4F3FB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67E396-BD9F-42B3-9AC6-2A92878F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6F9047-5D52-4C70-A132-F39C18D4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89379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95F1ECC-33CA-449E-8B72-DF1B2D38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TECHNICAL ARCHITECTURE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661D7A-1548-40F6-AD80-F289455FE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810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Determinism surrounds the agent.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4708C7-85BD-4DDD-8A92-F1E93E15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19250"/>
            <a:ext cx="9239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B9AFC8"/>
                </a:solidFill>
              </a:defRPr>
            </a:pPr>
            <a:r>
              <a:rPr sz="1575" b="0">
                <a:solidFill>
                  <a:srgbClr val="B9AFC8"/>
                </a:solidFill>
              </a:rPr>
              <a:t>Input is constrained before evidence becomes a bounded, repeatable release decision.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8DF36-9B12-4C9F-B3FA-73EAE9EFA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A88E9D-EF49-4A0B-9515-7DC28D502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4F0FA-6DB3-4301-88D7-EC99DF879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2BA730-6AF8-441B-90D6-A954D7A1B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URL / repo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BCP 47 locales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24E66F-6461-4CAE-A8F6-EF6C7166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61C521-4AF2-4B8A-A515-7D4C6118B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7C2B1A-8D1D-44C1-883E-67E68D31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FD8299-14A7-463A-B40E-20F643D18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DISCOVER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A3C368-7656-4CE6-A15F-0D652EA7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57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crawl + extract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redact secrets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49B16-5121-494E-8BB2-A45161350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58DDA4-C02F-4DC2-8D08-03B0E7014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11C1D-BC0F-45E2-A047-8B27C007D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55CFBE-C57C-4293-9345-D7E38B21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EVIDENCE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E35FD-EDB1-4B70-8555-5C785B6D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linguistic + visual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Playwright + axe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6900EF8-1337-4C67-A1D7-90C31F59F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24675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9941B-9477-4834-BE54-7DC711C5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231339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D115E53-3CBE-4EA9-A97A-E2713C68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CDB83F-14A2-4489-AA79-1C6783EE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REPAIR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1F23FD-9B1A-4358-A005-B6295F4C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scan + issue IDs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allowlisted diff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0C4DE1-1826-4607-A833-0C813FBB3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766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ACC15"/>
                </a:solidFill>
              </a:defRPr>
            </a:pPr>
            <a:r>
              <a:rPr sz="1800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0615D3-56C3-421D-805F-073079010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895600"/>
            <a:ext cx="1809750" cy="198120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1FB989A-DF38-4E12-84CA-35D07332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08610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9FAD00-FAA5-4012-A239-16BAAF0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62350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FF8E8"/>
                </a:solidFill>
              </a:defRPr>
            </a:pPr>
            <a:r>
              <a:rPr sz="1725" b="1">
                <a:solidFill>
                  <a:srgbClr val="FFF8E8"/>
                </a:solidFill>
              </a:rPr>
              <a:t>VERIFY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0894C4-A8EA-4468-9A85-DBD24D541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114800"/>
            <a:ext cx="1466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identical tests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source regression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3B938FD-7117-4EBC-8A1F-9AD5778D4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742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86EFAC"/>
                </a:solidFill>
              </a:defRPr>
            </a:pPr>
            <a:r>
              <a:rPr sz="1950" b="1">
                <a:solidFill>
                  <a:srgbClr val="86EFAC"/>
                </a:solidFill>
              </a:rPr>
              <a:t>Provider output can explain findings. It never overrides pass/fail.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5904C2-F0D5-4549-8569-BCDA34B6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91CB27-DA7B-4AC4-AF25-79ACC74A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45AA4A7-A49C-4E6A-B3C1-950E2249B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20481277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8566FD-AD84-41A4-96B4-421A6720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TRUST IS A PRODUCT FEATURE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8211C1-A46E-4A75-8A6E-AC9C61C7B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723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Bounded by design.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804e7e1ff4ce5"/>
          <a:srcRect xmlns:a="http://schemas.openxmlformats.org/drawingml/2006/main" l="0" t="3275" r="0" b="3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704850" y="1809750"/>
            <a:ext cx="6553200" cy="3829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380679-4B19-43D8-ACA6-C85761471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9240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URL POLICY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56B107-2710-4491-AE4B-78056B34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2002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DNS, redirects, limits, private-network blocks.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625C5E-070B-452C-B130-3ED0E1856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7051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F85692D-B361-4A65-9C80-8ADB8E2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384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REPAIR POLICY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C4293-E020-46CF-82C9-6D8C01558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146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Root confinement, symlink rejection, allowlist.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714ABB-C82D-484D-AB4F-6B16871AD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619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7C6770-B4B8-4CD0-95AA-A00940DF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7528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PROOF POLICY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C53B32-CA8B-49A8-8D4E-66673FD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0290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B9AFC8"/>
                </a:solidFill>
              </a:defRPr>
            </a:pPr>
            <a:r>
              <a:rPr sz="1425" b="0">
                <a:solidFill>
                  <a:srgbClr val="B9AFC8"/>
                </a:solidFill>
              </a:rPr>
              <a:t>Identical predicate plus regression checks.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70BC75-B367-408A-81ED-8A63AACA0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5339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99A0DA-60AF-4E11-B0BA-4D82E8742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667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NO-AI MODE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CA5CEB-D4BB-4FF1-8A24-39EF1EA87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943475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FF8E8"/>
                </a:solidFill>
              </a:defRPr>
            </a:pPr>
            <a:r>
              <a:rPr sz="1425" b="1">
                <a:solidFill>
                  <a:srgbClr val="FFF8E8"/>
                </a:solidFill>
              </a:rPr>
              <a:t>No model key for deterministic replay.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7486BE-A0C1-42A1-A9FB-61898291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AE4048-3464-43D1-8FD3-5DF10CF9B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06D3B1-97F2-473D-8D70-B03410AD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4153686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282B9E-68FB-46F7-9BBC-DE1B67A2B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D8B4FE"/>
                </a:solidFill>
              </a:defRPr>
            </a:pPr>
            <a:r>
              <a:rPr sz="1050" b="1">
                <a:solidFill>
                  <a:srgbClr val="D8B4FE"/>
                </a:solidFill>
              </a:rPr>
              <a:t>OPEN-SOURCE ADOPTION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45D3B1-76D7-49E3-ADAD-288E06EFF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763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FFF8E8"/>
                </a:solidFill>
              </a:defRPr>
            </a:pPr>
            <a:r>
              <a:rPr sz="3300" b="1">
                <a:solidFill>
                  <a:srgbClr val="FFF8E8"/>
                </a:solidFill>
              </a:rPr>
              <a:t>Start useful. Expand without faking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E4ADC4-4868-4297-B8D7-43E058D2F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781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B9AFC8"/>
                </a:solidFill>
              </a:defRPr>
            </a:pPr>
            <a:r>
              <a:rPr sz="1650" b="0">
                <a:solidFill>
                  <a:srgbClr val="B9AFC8"/>
                </a:solidFill>
              </a:rPr>
              <a:t>Apache-2.0 core, no paid database, no mandatory provider.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9CD83-D136-421B-A6E8-32337D8B8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211535"/>
          </a:solidFill>
          <a:ln xmlns:a="http://schemas.openxmlformats.org/drawingml/2006/main" w="9525">
            <a:solidFill>
              <a:srgbClr val="A855F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BAA48-26D6-4BF4-8E26-57336B26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09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ACC15"/>
                </a:solidFill>
              </a:defRPr>
            </a:pPr>
            <a:r>
              <a:rPr sz="975" b="1">
                <a:solidFill>
                  <a:srgbClr val="FACC15"/>
                </a:solidFill>
              </a:rPr>
              <a:t>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D8C1C9-0CCB-4AEE-B72C-7F0F4A4F9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052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Verified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32E02F-2A93-402A-A822-A25E40731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481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Next.js + URL scan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10→0 AtlasPay proof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web · CLI · MCP · CI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B2B050-CBF2-417C-B379-59A133EB0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719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0822700-E57D-400A-9D19-678DEA76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A4B062-A4BE-4221-BC78-68174533A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NEXT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C931A5-2C69-4E12-AC33-8E8854966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Broader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55BF2E-7FFA-4451-B402-36185DE1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Firefox + WebKit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provider adapters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glossary + memory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04701C-FDA4-45A7-AF09-11FC29AA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4038600"/>
            <a:ext cx="457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ACC15"/>
                </a:solidFill>
              </a:defRPr>
            </a:pPr>
            <a:r>
              <a:rPr sz="1875" b="1">
                <a:solidFill>
                  <a:srgbClr val="FACC15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AA5F26-95C0-4509-BA9F-007A8A6D6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4800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7102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310F9-3466-446C-B1CA-47D0F8DB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276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LATER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494B0-B9AF-4040-9A5B-172B37A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37719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FFF8E8"/>
                </a:solidFill>
              </a:defRPr>
            </a:pPr>
            <a:r>
              <a:rPr sz="2100" b="1">
                <a:solidFill>
                  <a:srgbClr val="FFF8E8"/>
                </a:solidFill>
              </a:rPr>
              <a:t>Enterprise scale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C71B80-9126-4431-94D1-A9D6CB53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4514850"/>
            <a:ext cx="2571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teams · SSO · remote MCP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isolated workers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B9AFC8"/>
                </a:solidFill>
              </a:defRPr>
            </a:pPr>
            <a:r>
              <a:rPr sz="1275" b="0">
                <a:solidFill>
                  <a:srgbClr val="B9AFC8"/>
                </a:solidFill>
              </a:rPr>
              <a:t>policy administration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54E6DC1-56BA-46E7-BAD3-8AC4CF9D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10782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29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7F860B-74C1-46C7-A3AE-82B75344B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543675"/>
            <a:ext cx="4000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BHASHAFIX · CODEX HACKATHON 2026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C5C4962-00A3-4291-ACB6-CE2A859D3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7100" y="6543675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750" b="1">
                <a:solidFill>
                  <a:srgbClr val="B9AFC8"/>
                </a:solidFill>
              </a:defRPr>
            </a:pPr>
            <a:r>
              <a:rPr sz="750" b="1">
                <a:solidFill>
                  <a:srgbClr val="B9AFC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635235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61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9842d052d24b7d"/>
          <a:srcRect xmlns:a="http://schemas.openxmlformats.org/drawingml/2006/main" l="6500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F9F924-AF62-4EB5-901C-504B8D1B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4314B6-AF54-43A5-892D-A4034511D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33400"/>
            <a:ext cx="5619750" cy="5715000"/>
          </a:xfrm>
          <a:prstGeom xmlns:a="http://schemas.openxmlformats.org/drawingml/2006/main" prst="roundRect">
            <a:avLst>
              <a:gd name="adj" fmla="val 2712"/>
            </a:avLst>
          </a:prstGeom>
          <a:solidFill xmlns:a="http://schemas.openxmlformats.org/drawingml/2006/main">
            <a:srgbClr val="0B0613"/>
          </a:solidFill>
          <a:ln xmlns:a="http://schemas.openxmlformats.org/drawingml/2006/main" w="9525">
            <a:solidFill>
              <a:srgbClr val="38294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688F4C-ACCC-4DF6-9C2F-6531F7D0C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95350"/>
            <a:ext cx="4095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200" b="1">
                <a:solidFill>
                  <a:srgbClr val="FFF8E8"/>
                </a:solidFill>
              </a:defRPr>
            </a:pPr>
            <a:r>
              <a:rPr sz="4200" b="1">
                <a:solidFill>
                  <a:srgbClr val="FFF8E8"/>
                </a:solidFill>
              </a:rPr>
              <a:t>BhashaFix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8D4A83-9389-4735-9AED-AAFD035C8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43100"/>
            <a:ext cx="44767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Test every language.</a:t>
            </a:r>
          </a:p>
          <a:p xmlns:a="http://schemas.openxmlformats.org/drawingml/2006/main">
            <a:pPr algn="l">
              <a:buNone/>
              <a:defRPr sz="3450" b="1">
                <a:solidFill>
                  <a:srgbClr val="FFF8E8"/>
                </a:solidFill>
              </a:defRPr>
            </a:pPr>
            <a:r>
              <a:rPr sz="3450" b="1">
                <a:solidFill>
                  <a:srgbClr val="FFF8E8"/>
                </a:solidFill>
              </a:rPr>
              <a:t>Prove every release.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6A0A56-89CD-46E9-A46B-9191212D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4667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Live now:</a:t>
            </a:r>
          </a:p>
          <a:p xmlns:a="http://schemas.openxmlformats.org/drawingml/2006/main">
            <a:pPr algn="l">
              <a:buNone/>
              <a:defRPr sz="2325" b="1">
                <a:solidFill>
                  <a:srgbClr val="FACC15"/>
                </a:solidFill>
              </a:defRPr>
            </a:pPr>
            <a:r>
              <a:rPr sz="2325" b="1">
                <a:solidFill>
                  <a:srgbClr val="FACC15"/>
                </a:solidFill>
              </a:rPr>
              <a:t>bhashafix.vercel.app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1147E-5D2E-416D-9984-6A4E1782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810125"/>
            <a:ext cx="2857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6EFA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AD3D44-225F-4CFE-8535-4674E743C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067300"/>
            <a:ext cx="3810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86EFAC"/>
                </a:solidFill>
              </a:defRPr>
            </a:pPr>
            <a:r>
              <a:rPr sz="1650" b="1">
                <a:solidFill>
                  <a:srgbClr val="86EFAC"/>
                </a:solidFill>
              </a:rPr>
              <a:t>10 → 0 · EN-GB PASS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0B026B-600C-443D-A10D-5A472DE61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81025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B4FE"/>
                </a:solidFill>
              </a:defRPr>
            </a:pPr>
            <a:r>
              <a:rPr sz="975" b="1">
                <a:solidFill>
                  <a:srgbClr val="D8B4FE"/>
                </a:solidFill>
              </a:rPr>
              <a:t>OPEN SOURCE · APACHE-2.0</a:t>
            </a:r>
          </a:p>
        </p:txBody>
      </p:sp>
    </p:spTree>
    <p:extLst>
      <p:ext uri="{BB962C8B-B14F-4D97-AF65-F5344CB8AC3E}">
        <p14:creationId xmlns:p14="http://schemas.microsoft.com/office/powerpoint/2010/main" val="966168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2026-07-30T11:09:22.1450000Z</dcterms:created>
  <dcterms:modified xsi:type="dcterms:W3CDTF">2026-07-30T11:09:22.1450000Z</dcterms:modified>
</coreProperties>
</file>